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UserGraduate.png"/><Relationship Id="rId4" Type="http://schemas.openxmlformats.org/officeDocument/2006/relationships/image" Target="../media/icon_FaUserTie.png"/><Relationship Id="rId5" Type="http://schemas.openxmlformats.org/officeDocument/2006/relationships/image" Target="../media/icon_FaUniversity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Users.png"/><Relationship Id="rId4" Type="http://schemas.openxmlformats.org/officeDocument/2006/relationships/image" Target="../media/icon_FaCalculator.png"/><Relationship Id="rId5" Type="http://schemas.openxmlformats.org/officeDocument/2006/relationships/image" Target="../media/icon_FaStar.png"/><Relationship Id="rId6" Type="http://schemas.openxmlformats.org/officeDocument/2006/relationships/image" Target="../media/icon_FaCalendarCheck.png"/><Relationship Id="rId7" Type="http://schemas.openxmlformats.org/officeDocument/2006/relationships/image" Target="../media/icon_FaTrophy.png"/><Relationship Id="rId8" Type="http://schemas.openxmlformats.org/officeDocument/2006/relationships/image" Target="../media/icon_FaFileAl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Table.png"/><Relationship Id="rId4" Type="http://schemas.openxmlformats.org/officeDocument/2006/relationships/image" Target="../media/icon_FaCalculator.png"/><Relationship Id="rId5" Type="http://schemas.openxmlformats.org/officeDocument/2006/relationships/image" Target="../media/icon_FaFolderOpen.png"/><Relationship Id="rId6" Type="http://schemas.openxmlformats.org/officeDocument/2006/relationships/image" Target="../media/icon_FaListOl.png"/><Relationship Id="rId7" Type="http://schemas.openxmlformats.org/officeDocument/2006/relationships/image" Target="../media/icon_FaEyeSlash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Calculator.png"/><Relationship Id="rId4" Type="http://schemas.openxmlformats.org/officeDocument/2006/relationships/image" Target="../media/icon_FaTrophy.png"/><Relationship Id="rId5" Type="http://schemas.openxmlformats.org/officeDocument/2006/relationships/image" Target="../media/icon_FaLayerGroup.png"/><Relationship Id="rId6" Type="http://schemas.openxmlformats.org/officeDocument/2006/relationships/image" Target="../media/icon_FaChartBar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dashboard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Users.png"/><Relationship Id="rId4" Type="http://schemas.openxmlformats.org/officeDocument/2006/relationships/image" Target="../media/icon_FaCalculator.png"/><Relationship Id="rId5" Type="http://schemas.openxmlformats.org/officeDocument/2006/relationships/image" Target="../media/icon_FaCalendarCheck.png"/><Relationship Id="rId6" Type="http://schemas.openxmlformats.org/officeDocument/2006/relationships/image" Target="../media/icon_FaTrophy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React.png"/><Relationship Id="rId4" Type="http://schemas.openxmlformats.org/officeDocument/2006/relationships/image" Target="../media/icon_FaRoute.png"/><Relationship Id="rId5" Type="http://schemas.openxmlformats.org/officeDocument/2006/relationships/image" Target="../media/icon_FaCalculator.png"/><Relationship Id="rId6" Type="http://schemas.openxmlformats.org/officeDocument/2006/relationships/image" Target="../media/icon_FaDatabase.png"/><Relationship Id="rId7" Type="http://schemas.openxmlformats.org/officeDocument/2006/relationships/image" Target="../media/icon_FaPalette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React.png"/><Relationship Id="rId4" Type="http://schemas.openxmlformats.org/officeDocument/2006/relationships/image" Target="../media/icon_FaBolt.png"/><Relationship Id="rId5" Type="http://schemas.openxmlformats.org/officeDocument/2006/relationships/image" Target="../media/icon_FaJs.png"/><Relationship Id="rId6" Type="http://schemas.openxmlformats.org/officeDocument/2006/relationships/image" Target="../media/icon_FaHtml5.png"/><Relationship Id="rId7" Type="http://schemas.openxmlformats.org/officeDocument/2006/relationships/image" Target="../media/icon_FaCss3Alt.png"/><Relationship Id="rId8" Type="http://schemas.openxmlformats.org/officeDocument/2006/relationships/image" Target="../media/icon_FaBootstrap.png"/><Relationship Id="rId9" Type="http://schemas.openxmlformats.org/officeDocument/2006/relationships/image" Target="../media/icon_FaChartPie.png"/><Relationship Id="rId10" Type="http://schemas.openxmlformats.org/officeDocument/2006/relationships/image" Target="../media/icon_FaRoute.png"/><Relationship Id="rId11" Type="http://schemas.openxmlformats.org/officeDocument/2006/relationships/image" Target="../media/icon_FaDatabase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Desktop.png"/><Relationship Id="rId4" Type="http://schemas.openxmlformats.org/officeDocument/2006/relationships/image" Target="../media/icon_FaCode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con_FaCalculator.png"/><Relationship Id="rId4" Type="http://schemas.openxmlformats.org/officeDocument/2006/relationships/image" Target="../media/icon_FaLayerGroup.png"/><Relationship Id="rId5" Type="http://schemas.openxmlformats.org/officeDocument/2006/relationships/image" Target="../media/icon_FaLaptopCod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IN" sz="2000" b="1" dirty="0">
                <a:solidFill>
                  <a:srgbClr val="7030A0"/>
                </a:solidFill>
                <a:latin typeface="Times New Roman"/>
                <a:cs typeface="Times New Roman"/>
              </a:rPr>
              <a:t>PROJECT TITLE: </a:t>
            </a:r>
            <a:r>
              <a:rPr lang="en-IN"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KPI Monitoring System (KPI Hub)</a:t>
            </a:r>
          </a:p>
          <a:p>
            <a:pPr algn="l">
              <a:lnSpc>
                <a:spcPct val="150000"/>
              </a:lnSpc>
            </a:pPr>
            <a:r>
              <a:rPr lang="en-IN" sz="2000" b="1" dirty="0">
                <a:solidFill>
                  <a:srgbClr val="7030A0"/>
                </a:solidFill>
                <a:latin typeface="Times New Roman"/>
                <a:cs typeface="Times New Roman"/>
              </a:rPr>
              <a:t>COURSE: </a:t>
            </a:r>
            <a:r>
              <a:rPr lang="en-IN"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Web Programming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000000"/>
            <a:ext cx="5100000" cy="1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  <a:cs typeface="Times New Roman"/>
              </a:rPr>
              <a:t>NAME: </a:t>
            </a: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K Kenneth Prathap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  <a:cs typeface="Times New Roman"/>
              </a:rPr>
              <a:t>REG NO: </a:t>
            </a: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241901048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sz="2000" b="1" dirty="0">
                <a:solidFill>
                  <a:srgbClr val="8B0000"/>
                </a:solidFill>
                <a:latin typeface="Times New Roman"/>
                <a:cs typeface="Times New Roman"/>
              </a:rPr>
              <a:t>GUIDE: </a:t>
            </a:r>
            <a:r>
              <a:rPr lang="en-I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Swathi Lakshmi, Asst. Professor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PROJECT TEAM AND SUPERVISION</a:t>
            </a:r>
          </a:p>
        </p:txBody>
      </p:sp>
      <p:sp>
        <p:nvSpPr>
          <p:cNvPr id="3" name="STUDENT card"/>
          <p:cNvSpPr/>
          <p:nvPr/>
        </p:nvSpPr>
        <p:spPr>
          <a:xfrm>
            <a:off x="758952" y="1870862"/>
            <a:ext cx="3335731" cy="294071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</p:sp>
      <p:sp>
        <p:nvSpPr>
          <p:cNvPr id="4" name="Student circle"/>
          <p:cNvSpPr/>
          <p:nvPr/>
        </p:nvSpPr>
        <p:spPr>
          <a:xfrm>
            <a:off x="1066190" y="2178101"/>
            <a:ext cx="746150" cy="7461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Student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364638"/>
            <a:ext cx="373075" cy="373075"/>
          </a:xfrm>
          <a:prstGeom prst="rect">
            <a:avLst/>
          </a:prstGeom>
        </p:spPr>
      </p:pic>
      <p:sp>
        <p:nvSpPr>
          <p:cNvPr id="6" name="STUDENT label"/>
          <p:cNvSpPr txBox="1"/>
          <p:nvPr/>
        </p:nvSpPr>
        <p:spPr>
          <a:xfrm>
            <a:off x="1066190" y="3099816"/>
            <a:ext cx="2721254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595959"/>
                </a:solidFill>
                <a:latin typeface="Times New Roman"/>
                <a:cs typeface="Times New Roman"/>
              </a:rPr>
              <a:t>STUDENT</a:t>
            </a:r>
            <a:endParaRPr lang="en-US" sz="1300" dirty="0"/>
          </a:p>
        </p:txBody>
      </p:sp>
      <p:sp>
        <p:nvSpPr>
          <p:cNvPr id="7" name="STUDENT text"/>
          <p:cNvSpPr txBox="1"/>
          <p:nvPr/>
        </p:nvSpPr>
        <p:spPr>
          <a:xfrm>
            <a:off x="1066190" y="3380720"/>
            <a:ext cx="2809037" cy="1316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 Kenneth Prathap</a:t>
            </a:r>
            <a:endParaRPr lang="en-US" sz="20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Register No: 241901048</a:t>
            </a:r>
            <a:endParaRPr lang="en-US" sz="15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B.E. Computer Science and Engineering (Cyber Security)</a:t>
            </a:r>
            <a:endParaRPr lang="en-US" sz="1500" dirty="0"/>
          </a:p>
        </p:txBody>
      </p:sp>
      <p:sp>
        <p:nvSpPr>
          <p:cNvPr id="8" name="GUIDE card"/>
          <p:cNvSpPr/>
          <p:nvPr/>
        </p:nvSpPr>
        <p:spPr>
          <a:xfrm>
            <a:off x="4358030" y="1870862"/>
            <a:ext cx="3335731" cy="294071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</p:sp>
      <p:sp>
        <p:nvSpPr>
          <p:cNvPr id="9" name="Guide circle"/>
          <p:cNvSpPr/>
          <p:nvPr/>
        </p:nvSpPr>
        <p:spPr>
          <a:xfrm>
            <a:off x="4665269" y="2178101"/>
            <a:ext cx="746150" cy="7461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0" name="Guide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806" y="2364638"/>
            <a:ext cx="373075" cy="373075"/>
          </a:xfrm>
          <a:prstGeom prst="rect">
            <a:avLst/>
          </a:prstGeom>
        </p:spPr>
      </p:pic>
      <p:sp>
        <p:nvSpPr>
          <p:cNvPr id="11" name="GUIDE label"/>
          <p:cNvSpPr txBox="1"/>
          <p:nvPr/>
        </p:nvSpPr>
        <p:spPr>
          <a:xfrm>
            <a:off x="4665269" y="3099816"/>
            <a:ext cx="2721254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595959"/>
                </a:solidFill>
                <a:latin typeface="Times New Roman"/>
                <a:cs typeface="Times New Roman"/>
              </a:rPr>
              <a:t>GUIDE</a:t>
            </a:r>
            <a:endParaRPr lang="en-US" sz="1300" dirty="0"/>
          </a:p>
        </p:txBody>
      </p:sp>
      <p:sp>
        <p:nvSpPr>
          <p:cNvPr id="12" name="GUIDE text"/>
          <p:cNvSpPr txBox="1"/>
          <p:nvPr/>
        </p:nvSpPr>
        <p:spPr>
          <a:xfrm>
            <a:off x="4665269" y="3380720"/>
            <a:ext cx="2809037" cy="1316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Swathi Lakshmi</a:t>
            </a:r>
            <a:endParaRPr lang="en-US" sz="20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Assistant Professor</a:t>
            </a:r>
            <a:endParaRPr lang="en-US" sz="1500" dirty="0"/>
          </a:p>
        </p:txBody>
      </p:sp>
      <p:sp>
        <p:nvSpPr>
          <p:cNvPr id="13" name="INSTITUTION card"/>
          <p:cNvSpPr/>
          <p:nvPr/>
        </p:nvSpPr>
        <p:spPr>
          <a:xfrm>
            <a:off x="7957109" y="1870862"/>
            <a:ext cx="3335731" cy="294071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</p:sp>
      <p:sp>
        <p:nvSpPr>
          <p:cNvPr id="14" name="Institution circle"/>
          <p:cNvSpPr/>
          <p:nvPr/>
        </p:nvSpPr>
        <p:spPr>
          <a:xfrm>
            <a:off x="8264347" y="2178101"/>
            <a:ext cx="746150" cy="74615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</p:sp>
      <p:pic>
        <p:nvPicPr>
          <p:cNvPr id="15" name="Institution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885" y="2364638"/>
            <a:ext cx="373075" cy="373075"/>
          </a:xfrm>
          <a:prstGeom prst="rect">
            <a:avLst/>
          </a:prstGeom>
        </p:spPr>
      </p:pic>
      <p:sp>
        <p:nvSpPr>
          <p:cNvPr id="16" name="INSTITUTION label"/>
          <p:cNvSpPr txBox="1"/>
          <p:nvPr/>
        </p:nvSpPr>
        <p:spPr>
          <a:xfrm>
            <a:off x="8264347" y="3099816"/>
            <a:ext cx="2721254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595959"/>
                </a:solidFill>
                <a:latin typeface="Times New Roman"/>
                <a:cs typeface="Times New Roman"/>
              </a:rPr>
              <a:t>INSTITUTION</a:t>
            </a:r>
            <a:endParaRPr lang="en-US" sz="1300" dirty="0"/>
          </a:p>
        </p:txBody>
      </p:sp>
      <p:sp>
        <p:nvSpPr>
          <p:cNvPr id="17" name="INSTITUTION text"/>
          <p:cNvSpPr txBox="1"/>
          <p:nvPr/>
        </p:nvSpPr>
        <p:spPr>
          <a:xfrm>
            <a:off x="8264347" y="3380720"/>
            <a:ext cx="2809037" cy="1316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Rajalakshmi Engineering College</a:t>
            </a:r>
            <a:endParaRPr lang="en-US" sz="20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Department of Computer Science and Engineering (Cyber Security)</a:t>
            </a:r>
            <a:endParaRPr lang="en-US" sz="1500" dirty="0"/>
          </a:p>
        </p:txBody>
      </p:sp>
      <p:sp>
        <p:nvSpPr>
          <p:cNvPr id="18" name="Project banner"/>
          <p:cNvSpPr/>
          <p:nvPr/>
        </p:nvSpPr>
        <p:spPr>
          <a:xfrm>
            <a:off x="758952" y="5118811"/>
            <a:ext cx="10533888" cy="921715"/>
          </a:xfrm>
          <a:prstGeom prst="roundRect">
            <a:avLst>
              <a:gd name="adj" fmla="val 14880"/>
            </a:avLst>
          </a:prstGeom>
          <a:solidFill>
            <a:srgbClr val="002060"/>
          </a:solidFill>
          <a:ln>
            <a:noFill/>
          </a:ln>
        </p:spPr>
        <p:txBody>
          <a:bodyPr wrap="square" lIns="365760" tIns="45720" rIns="36576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4B5FD"/>
                </a:solidFill>
                <a:latin typeface="Times New Roman"/>
                <a:cs typeface="Times New Roman"/>
              </a:rPr>
              <a:t xml:space="preserve">Project: </a:t>
            </a: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KPI Monitoring System (KPI Hub), a web development project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C9D1FF"/>
                </a:solidFill>
                <a:latin typeface="Times New Roman"/>
                <a:cs typeface="Times New Roman"/>
              </a:rPr>
              <a:t>Course: Web Programming  |  III Year / V Semester, Odd 2026–2027</a:t>
            </a:r>
            <a:endParaRPr lang="en-US" sz="1500" dirty="0"/>
          </a:p>
        </p:txBody>
      </p:sp>
      <p:sp>
        <p:nvSpPr>
          <p:cNvPr id="19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3" name="Abstract card"/>
          <p:cNvSpPr/>
          <p:nvPr/>
        </p:nvSpPr>
        <p:spPr>
          <a:xfrm>
            <a:off x="758952" y="1826971"/>
            <a:ext cx="6583680" cy="4169664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Abstract text"/>
          <p:cNvSpPr txBox="1"/>
          <p:nvPr/>
        </p:nvSpPr>
        <p:spPr>
          <a:xfrm>
            <a:off x="1110082" y="2134210"/>
            <a:ext cx="5881421" cy="3686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>KPI Hub is a web-based system for monitoring employee performance with Key Performance Indicators (KPIs) in one place.</a:t>
            </a:r>
            <a:endParaRPr lang="en-US" sz="2000" dirty="0"/>
          </a:p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 xml:space="preserve">Users manage employees, record KPI data (Tasks, Bugs and Hours) and attendance. Each score is calculated automatically as </a:t>
            </a:r>
            <a:r>
              <a:rPr lang="en-US" sz="2000" b="1" i="0" dirty="0">
                <a:solidFill>
                  <a:srgbClr val="7030A0"/>
                </a:solidFill>
                <a:latin typeface="Times New Roman"/>
                <a:cs typeface="Times New Roman"/>
              </a:rPr>
              <a:t>(Tasks × 5) + (Bugs × 3) + (Hours × 0.5)</a:t>
            </a: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 xml:space="preserve"> and rated Excellent, Good or Poor.</a:t>
            </a:r>
            <a:endParaRPr lang="en-US" sz="20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dashboard shows summary cards and a ranked leaderboard, and a Report page summarises performance. It is built with React and Vite and stores data in the browser’s localStorage.</a:t>
            </a:r>
            <a:endParaRPr lang="en-US" sz="2000" dirty="0"/>
          </a:p>
        </p:txBody>
      </p:sp>
      <p:sp>
        <p:nvSpPr>
          <p:cNvPr id="5" name="Stat tile 1"/>
          <p:cNvSpPr/>
          <p:nvPr/>
        </p:nvSpPr>
        <p:spPr>
          <a:xfrm>
            <a:off x="7634947" y="1826971"/>
            <a:ext cx="3657893" cy="1307958"/>
          </a:xfrm>
          <a:prstGeom prst="roundRect">
            <a:avLst>
              <a:gd name="adj" fmla="val 8389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6" name="Stat number 1"/>
          <p:cNvSpPr txBox="1"/>
          <p:nvPr/>
        </p:nvSpPr>
        <p:spPr>
          <a:xfrm>
            <a:off x="7854403" y="1826971"/>
            <a:ext cx="877824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lang="en-US" sz="4800" dirty="0"/>
          </a:p>
        </p:txBody>
      </p:sp>
      <p:sp>
        <p:nvSpPr>
          <p:cNvPr id="7" name="Stat text 1"/>
          <p:cNvSpPr txBox="1"/>
          <p:nvPr/>
        </p:nvSpPr>
        <p:spPr>
          <a:xfrm>
            <a:off x="8820010" y="1826971"/>
            <a:ext cx="2370125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Modules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/>
                <a:cs typeface="Times New Roman"/>
              </a:rPr>
              <a:t>Dashboard, Employees, KPI, Attendance, Report</a:t>
            </a:r>
            <a:endParaRPr lang="en-US" sz="1300" dirty="0"/>
          </a:p>
        </p:txBody>
      </p:sp>
      <p:sp>
        <p:nvSpPr>
          <p:cNvPr id="8" name="Stat tile 2"/>
          <p:cNvSpPr/>
          <p:nvPr/>
        </p:nvSpPr>
        <p:spPr>
          <a:xfrm>
            <a:off x="7634947" y="3257824"/>
            <a:ext cx="3657893" cy="1307958"/>
          </a:xfrm>
          <a:prstGeom prst="roundRect">
            <a:avLst>
              <a:gd name="adj" fmla="val 8389"/>
            </a:avLst>
          </a:prstGeom>
          <a:solidFill>
            <a:srgbClr val="7030A0"/>
          </a:solidFill>
          <a:ln>
            <a:noFill/>
          </a:ln>
        </p:spPr>
      </p:sp>
      <p:sp>
        <p:nvSpPr>
          <p:cNvPr id="9" name="Stat number 2"/>
          <p:cNvSpPr txBox="1"/>
          <p:nvPr/>
        </p:nvSpPr>
        <p:spPr>
          <a:xfrm>
            <a:off x="7854403" y="3257824"/>
            <a:ext cx="877824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lang="en-US" sz="4800" dirty="0"/>
          </a:p>
        </p:txBody>
      </p:sp>
      <p:sp>
        <p:nvSpPr>
          <p:cNvPr id="10" name="Stat text 2"/>
          <p:cNvSpPr txBox="1"/>
          <p:nvPr/>
        </p:nvSpPr>
        <p:spPr>
          <a:xfrm>
            <a:off x="8820010" y="3257824"/>
            <a:ext cx="2370125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Rating levels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/>
                <a:cs typeface="Times New Roman"/>
              </a:rPr>
              <a:t>Excellent, Good and Poor</a:t>
            </a:r>
            <a:endParaRPr lang="en-US" sz="1300" dirty="0"/>
          </a:p>
        </p:txBody>
      </p:sp>
      <p:sp>
        <p:nvSpPr>
          <p:cNvPr id="11" name="Stat tile 3"/>
          <p:cNvSpPr/>
          <p:nvPr/>
        </p:nvSpPr>
        <p:spPr>
          <a:xfrm>
            <a:off x="7634947" y="4688677"/>
            <a:ext cx="3657893" cy="1307958"/>
          </a:xfrm>
          <a:prstGeom prst="roundRect">
            <a:avLst>
              <a:gd name="adj" fmla="val 8389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12" name="Stat number 3"/>
          <p:cNvSpPr txBox="1"/>
          <p:nvPr/>
        </p:nvSpPr>
        <p:spPr>
          <a:xfrm>
            <a:off x="7854403" y="4688677"/>
            <a:ext cx="877824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lang="en-US" sz="4800" dirty="0"/>
          </a:p>
        </p:txBody>
      </p:sp>
      <p:sp>
        <p:nvSpPr>
          <p:cNvPr id="13" name="Stat text 3"/>
          <p:cNvSpPr txBox="1"/>
          <p:nvPr/>
        </p:nvSpPr>
        <p:spPr>
          <a:xfrm>
            <a:off x="8820010" y="4688677"/>
            <a:ext cx="2370125" cy="13079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Scoring formula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C9D1FF"/>
                </a:solidFill>
                <a:latin typeface="Times New Roman"/>
                <a:cs typeface="Times New Roman"/>
              </a:rPr>
              <a:t>Based on Tasks, Bugs and Hours</a:t>
            </a:r>
            <a:endParaRPr lang="en-US" sz="1300" dirty="0"/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Objective card 1"/>
          <p:cNvSpPr/>
          <p:nvPr/>
        </p:nvSpPr>
        <p:spPr>
          <a:xfrm>
            <a:off x="758952" y="1826971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Objective 1 circle"/>
          <p:cNvSpPr/>
          <p:nvPr/>
        </p:nvSpPr>
        <p:spPr>
          <a:xfrm>
            <a:off x="1022299" y="2090318"/>
            <a:ext cx="614477" cy="6144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Objective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2243938"/>
            <a:ext cx="307238" cy="307238"/>
          </a:xfrm>
          <a:prstGeom prst="rect">
            <a:avLst/>
          </a:prstGeom>
        </p:spPr>
      </p:pic>
      <p:sp>
        <p:nvSpPr>
          <p:cNvPr id="6" name="Objective 1 text"/>
          <p:cNvSpPr txBox="1"/>
          <p:nvPr/>
        </p:nvSpPr>
        <p:spPr>
          <a:xfrm>
            <a:off x="1022299" y="2792578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Employee records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Keep employee details together in one place.</a:t>
            </a:r>
            <a:endParaRPr lang="en-US" sz="1400" dirty="0"/>
          </a:p>
        </p:txBody>
      </p:sp>
      <p:sp>
        <p:nvSpPr>
          <p:cNvPr id="7" name="Objective card 2"/>
          <p:cNvSpPr/>
          <p:nvPr/>
        </p:nvSpPr>
        <p:spPr>
          <a:xfrm>
            <a:off x="4358030" y="1826971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Objective 2 circle"/>
          <p:cNvSpPr/>
          <p:nvPr/>
        </p:nvSpPr>
        <p:spPr>
          <a:xfrm>
            <a:off x="4621378" y="2090318"/>
            <a:ext cx="614477" cy="61447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9" name="Objective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97" y="2243938"/>
            <a:ext cx="307238" cy="307238"/>
          </a:xfrm>
          <a:prstGeom prst="rect">
            <a:avLst/>
          </a:prstGeom>
        </p:spPr>
      </p:pic>
      <p:sp>
        <p:nvSpPr>
          <p:cNvPr id="10" name="Objective 2 text"/>
          <p:cNvSpPr txBox="1"/>
          <p:nvPr/>
        </p:nvSpPr>
        <p:spPr>
          <a:xfrm>
            <a:off x="4621378" y="2792578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Automatic scoring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Calculate each KPI score from Tasks, Bugs and Hours.</a:t>
            </a:r>
            <a:endParaRPr lang="en-US" sz="1400" dirty="0"/>
          </a:p>
        </p:txBody>
      </p:sp>
      <p:sp>
        <p:nvSpPr>
          <p:cNvPr id="11" name="Objective card 3"/>
          <p:cNvSpPr/>
          <p:nvPr/>
        </p:nvSpPr>
        <p:spPr>
          <a:xfrm>
            <a:off x="7957109" y="1826971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2" name="Objective 3 circle"/>
          <p:cNvSpPr/>
          <p:nvPr/>
        </p:nvSpPr>
        <p:spPr>
          <a:xfrm>
            <a:off x="8220456" y="2090318"/>
            <a:ext cx="614477" cy="6144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3" name="Objective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075" y="2243938"/>
            <a:ext cx="307238" cy="307238"/>
          </a:xfrm>
          <a:prstGeom prst="rect">
            <a:avLst/>
          </a:prstGeom>
        </p:spPr>
      </p:pic>
      <p:sp>
        <p:nvSpPr>
          <p:cNvPr id="14" name="Objective 3 text"/>
          <p:cNvSpPr txBox="1"/>
          <p:nvPr/>
        </p:nvSpPr>
        <p:spPr>
          <a:xfrm>
            <a:off x="8220456" y="2792578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Performance rating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Classify every score as Excellent, Good or Poor.</a:t>
            </a:r>
            <a:endParaRPr lang="en-US" sz="1400" dirty="0"/>
          </a:p>
        </p:txBody>
      </p:sp>
      <p:sp>
        <p:nvSpPr>
          <p:cNvPr id="15" name="Objective card 4"/>
          <p:cNvSpPr/>
          <p:nvPr/>
        </p:nvSpPr>
        <p:spPr>
          <a:xfrm>
            <a:off x="758952" y="3977640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6" name="Objective 4 circle"/>
          <p:cNvSpPr/>
          <p:nvPr/>
        </p:nvSpPr>
        <p:spPr>
          <a:xfrm>
            <a:off x="1022299" y="4240987"/>
            <a:ext cx="614477" cy="61447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7" name="Objective 4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918" y="4394606"/>
            <a:ext cx="307238" cy="307238"/>
          </a:xfrm>
          <a:prstGeom prst="rect">
            <a:avLst/>
          </a:prstGeom>
        </p:spPr>
      </p:pic>
      <p:sp>
        <p:nvSpPr>
          <p:cNvPr id="18" name="Objective 4 text"/>
          <p:cNvSpPr txBox="1"/>
          <p:nvPr/>
        </p:nvSpPr>
        <p:spPr>
          <a:xfrm>
            <a:off x="1022299" y="4943246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Attendance tracking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Record employee attendance alongside KPI data.</a:t>
            </a:r>
            <a:endParaRPr lang="en-US" sz="1400" dirty="0"/>
          </a:p>
        </p:txBody>
      </p:sp>
      <p:sp>
        <p:nvSpPr>
          <p:cNvPr id="19" name="Objective card 5"/>
          <p:cNvSpPr/>
          <p:nvPr/>
        </p:nvSpPr>
        <p:spPr>
          <a:xfrm>
            <a:off x="4358030" y="3977640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0" name="Objective 5 circle"/>
          <p:cNvSpPr/>
          <p:nvPr/>
        </p:nvSpPr>
        <p:spPr>
          <a:xfrm>
            <a:off x="4621378" y="4240987"/>
            <a:ext cx="614477" cy="6144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1" name="Objective 5 ic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997" y="4394606"/>
            <a:ext cx="307238" cy="307238"/>
          </a:xfrm>
          <a:prstGeom prst="rect">
            <a:avLst/>
          </a:prstGeom>
        </p:spPr>
      </p:pic>
      <p:sp>
        <p:nvSpPr>
          <p:cNvPr id="22" name="Objective 5 text"/>
          <p:cNvSpPr txBox="1"/>
          <p:nvPr/>
        </p:nvSpPr>
        <p:spPr>
          <a:xfrm>
            <a:off x="4621378" y="4943246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Live leaderboard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Rank employees by score on the dashboard.</a:t>
            </a:r>
            <a:endParaRPr lang="en-US" sz="1400" dirty="0"/>
          </a:p>
        </p:txBody>
      </p:sp>
      <p:sp>
        <p:nvSpPr>
          <p:cNvPr id="23" name="Objective card 6"/>
          <p:cNvSpPr/>
          <p:nvPr/>
        </p:nvSpPr>
        <p:spPr>
          <a:xfrm>
            <a:off x="7957109" y="3977640"/>
            <a:ext cx="3335731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4" name="Objective 6 circle"/>
          <p:cNvSpPr/>
          <p:nvPr/>
        </p:nvSpPr>
        <p:spPr>
          <a:xfrm>
            <a:off x="8220456" y="4240987"/>
            <a:ext cx="614477" cy="61447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25" name="Objective 6 icon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4075" y="4394606"/>
            <a:ext cx="307238" cy="307238"/>
          </a:xfrm>
          <a:prstGeom prst="rect">
            <a:avLst/>
          </a:prstGeom>
        </p:spPr>
      </p:pic>
      <p:sp>
        <p:nvSpPr>
          <p:cNvPr id="26" name="Objective 6 text"/>
          <p:cNvSpPr txBox="1"/>
          <p:nvPr/>
        </p:nvSpPr>
        <p:spPr>
          <a:xfrm>
            <a:off x="8220456" y="4943246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Reports</a:t>
            </a:r>
            <a:endParaRPr lang="en-US" sz="18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Summarise team performance in a Report page.</a:t>
            </a:r>
            <a:endParaRPr lang="en-US" sz="1400" dirty="0"/>
          </a:p>
        </p:txBody>
      </p:sp>
      <p:sp>
        <p:nvSpPr>
          <p:cNvPr id="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EXISTING SYSTEM</a:t>
            </a:r>
          </a:p>
        </p:txBody>
      </p:sp>
      <p:sp>
        <p:nvSpPr>
          <p:cNvPr id="3" name="Existing summary"/>
          <p:cNvSpPr/>
          <p:nvPr/>
        </p:nvSpPr>
        <p:spPr>
          <a:xfrm>
            <a:off x="758952" y="1826971"/>
            <a:ext cx="3686861" cy="4169664"/>
          </a:xfrm>
          <a:prstGeom prst="roundRect">
            <a:avLst>
              <a:gd name="adj" fmla="val 3720"/>
            </a:avLst>
          </a:prstGeom>
          <a:solidFill>
            <a:srgbClr val="002060"/>
          </a:solidFill>
          <a:ln>
            <a:noFill/>
          </a:ln>
        </p:spPr>
      </p:sp>
      <p:sp>
        <p:nvSpPr>
          <p:cNvPr id="4" name="Existing circle"/>
          <p:cNvSpPr/>
          <p:nvPr/>
        </p:nvSpPr>
        <p:spPr>
          <a:xfrm>
            <a:off x="1110082" y="2134210"/>
            <a:ext cx="790042" cy="79004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5" name="Existing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331720"/>
            <a:ext cx="395021" cy="395021"/>
          </a:xfrm>
          <a:prstGeom prst="rect">
            <a:avLst/>
          </a:prstGeom>
        </p:spPr>
      </p:pic>
      <p:sp>
        <p:nvSpPr>
          <p:cNvPr id="6" name="Existing summary text"/>
          <p:cNvSpPr txBox="1"/>
          <p:nvPr/>
        </p:nvSpPr>
        <p:spPr>
          <a:xfrm>
            <a:off x="1110082" y="3187598"/>
            <a:ext cx="3072384" cy="2633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Manual KPI tracking</a:t>
            </a:r>
            <a:endParaRPr lang="en-US" sz="24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C9D1FF"/>
                </a:solidFill>
                <a:latin typeface="Times New Roman"/>
                <a:cs typeface="Times New Roman"/>
              </a:rPr>
              <a:t>Employee KPIs and attendance are recorded and scored by hand, typically in spreadsheets or on paper.</a:t>
            </a:r>
            <a:endParaRPr lang="en-US" sz="1600" dirty="0"/>
          </a:p>
        </p:txBody>
      </p:sp>
      <p:sp>
        <p:nvSpPr>
          <p:cNvPr id="7" name="Limitation card 1"/>
          <p:cNvSpPr/>
          <p:nvPr/>
        </p:nvSpPr>
        <p:spPr>
          <a:xfrm>
            <a:off x="4694237" y="1826971"/>
            <a:ext cx="6598603" cy="921715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Limitation 1 circle"/>
          <p:cNvSpPr/>
          <p:nvPr/>
        </p:nvSpPr>
        <p:spPr>
          <a:xfrm>
            <a:off x="4913693" y="2002536"/>
            <a:ext cx="570586" cy="5705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9" name="Limitation 1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339" y="2145182"/>
            <a:ext cx="285293" cy="285293"/>
          </a:xfrm>
          <a:prstGeom prst="rect">
            <a:avLst/>
          </a:prstGeom>
        </p:spPr>
      </p:pic>
      <p:sp>
        <p:nvSpPr>
          <p:cNvPr id="10" name="Limitation 1 text"/>
          <p:cNvSpPr txBox="1"/>
          <p:nvPr/>
        </p:nvSpPr>
        <p:spPr>
          <a:xfrm>
            <a:off x="5703735" y="1826971"/>
            <a:ext cx="5398618" cy="9217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Manual calculation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Scores are worked out by hand, which is slow and error-prone.</a:t>
            </a:r>
            <a:endParaRPr lang="en-US" sz="1400" dirty="0"/>
          </a:p>
        </p:txBody>
      </p:sp>
      <p:sp>
        <p:nvSpPr>
          <p:cNvPr id="11" name="Limitation card 2"/>
          <p:cNvSpPr/>
          <p:nvPr/>
        </p:nvSpPr>
        <p:spPr>
          <a:xfrm>
            <a:off x="4694237" y="2897916"/>
            <a:ext cx="6598603" cy="921715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2" name="Limitation 2 circle"/>
          <p:cNvSpPr/>
          <p:nvPr/>
        </p:nvSpPr>
        <p:spPr>
          <a:xfrm>
            <a:off x="4913693" y="3073481"/>
            <a:ext cx="570586" cy="5705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3" name="Limitation 2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339" y="3216128"/>
            <a:ext cx="285293" cy="285293"/>
          </a:xfrm>
          <a:prstGeom prst="rect">
            <a:avLst/>
          </a:prstGeom>
        </p:spPr>
      </p:pic>
      <p:sp>
        <p:nvSpPr>
          <p:cNvPr id="14" name="Limitation 2 text"/>
          <p:cNvSpPr txBox="1"/>
          <p:nvPr/>
        </p:nvSpPr>
        <p:spPr>
          <a:xfrm>
            <a:off x="5703735" y="2897916"/>
            <a:ext cx="5398618" cy="9217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Scattered records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Employee, KPI and attendance data are kept in separate places.</a:t>
            </a:r>
            <a:endParaRPr lang="en-US" sz="1400" dirty="0"/>
          </a:p>
        </p:txBody>
      </p:sp>
      <p:sp>
        <p:nvSpPr>
          <p:cNvPr id="15" name="Limitation card 3"/>
          <p:cNvSpPr/>
          <p:nvPr/>
        </p:nvSpPr>
        <p:spPr>
          <a:xfrm>
            <a:off x="4694237" y="3968862"/>
            <a:ext cx="6598603" cy="921715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6" name="Limitation 3 circle"/>
          <p:cNvSpPr/>
          <p:nvPr/>
        </p:nvSpPr>
        <p:spPr>
          <a:xfrm>
            <a:off x="4913693" y="4144427"/>
            <a:ext cx="570586" cy="5705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7" name="Limitation 3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339" y="4287073"/>
            <a:ext cx="285293" cy="285293"/>
          </a:xfrm>
          <a:prstGeom prst="rect">
            <a:avLst/>
          </a:prstGeom>
        </p:spPr>
      </p:pic>
      <p:sp>
        <p:nvSpPr>
          <p:cNvPr id="18" name="Limitation 3 text"/>
          <p:cNvSpPr txBox="1"/>
          <p:nvPr/>
        </p:nvSpPr>
        <p:spPr>
          <a:xfrm>
            <a:off x="5703735" y="3968862"/>
            <a:ext cx="5398618" cy="9217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No instant ranking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Comparing employees takes extra effort every time.</a:t>
            </a:r>
            <a:endParaRPr lang="en-US" sz="1400" dirty="0"/>
          </a:p>
        </p:txBody>
      </p:sp>
      <p:sp>
        <p:nvSpPr>
          <p:cNvPr id="19" name="Limitation card 4"/>
          <p:cNvSpPr/>
          <p:nvPr/>
        </p:nvSpPr>
        <p:spPr>
          <a:xfrm>
            <a:off x="4694237" y="5039807"/>
            <a:ext cx="6598603" cy="921715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0" name="Limitation 4 circle"/>
          <p:cNvSpPr/>
          <p:nvPr/>
        </p:nvSpPr>
        <p:spPr>
          <a:xfrm>
            <a:off x="4913693" y="5215372"/>
            <a:ext cx="570586" cy="57058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1" name="Limitation 4 ic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339" y="5358018"/>
            <a:ext cx="285293" cy="285293"/>
          </a:xfrm>
          <a:prstGeom prst="rect">
            <a:avLst/>
          </a:prstGeom>
        </p:spPr>
      </p:pic>
      <p:sp>
        <p:nvSpPr>
          <p:cNvPr id="22" name="Limitation 4 text"/>
          <p:cNvSpPr txBox="1"/>
          <p:nvPr/>
        </p:nvSpPr>
        <p:spPr>
          <a:xfrm>
            <a:off x="5703735" y="5039807"/>
            <a:ext cx="5398618" cy="9217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Limited visibility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There is no single dashboard showing team performance at a glance.</a:t>
            </a:r>
            <a:endParaRPr lang="en-US" sz="1400" dirty="0"/>
          </a:p>
        </p:txBody>
      </p:sp>
      <p:sp>
        <p:nvSpPr>
          <p:cNvPr id="23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PROPOSED SYSTEM: KPI HUB</a:t>
            </a:r>
          </a:p>
        </p:txBody>
      </p:sp>
      <p:sp>
        <p:nvSpPr>
          <p:cNvPr id="3" name="Feature card 1"/>
          <p:cNvSpPr/>
          <p:nvPr/>
        </p:nvSpPr>
        <p:spPr>
          <a:xfrm>
            <a:off x="758952" y="1826971"/>
            <a:ext cx="513527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Feature 1 circle"/>
          <p:cNvSpPr/>
          <p:nvPr/>
        </p:nvSpPr>
        <p:spPr>
          <a:xfrm>
            <a:off x="1022299" y="2090318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Feature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91" y="2254910"/>
            <a:ext cx="329184" cy="329184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900123" y="2090318"/>
            <a:ext cx="3774643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Automatic scoring</a:t>
            </a:r>
            <a:endParaRPr lang="en-US" sz="20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1022299" y="2880360"/>
            <a:ext cx="4652467" cy="6144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Score = (Tasks × 5) + (Bugs × 3) + (Hours × 0.5), calculated for every employee.</a:t>
            </a:r>
            <a:endParaRPr lang="en-US" sz="1500" dirty="0"/>
          </a:p>
        </p:txBody>
      </p:sp>
      <p:sp>
        <p:nvSpPr>
          <p:cNvPr id="8" name="Feature card 2"/>
          <p:cNvSpPr/>
          <p:nvPr/>
        </p:nvSpPr>
        <p:spPr>
          <a:xfrm>
            <a:off x="6157570" y="1826971"/>
            <a:ext cx="513527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9" name="Feature 2 circle"/>
          <p:cNvSpPr/>
          <p:nvPr/>
        </p:nvSpPr>
        <p:spPr>
          <a:xfrm>
            <a:off x="6420917" y="2090318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0" name="Feature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09" y="2254910"/>
            <a:ext cx="329184" cy="329184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7298741" y="2090318"/>
            <a:ext cx="3774643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Instant rating and ranking</a:t>
            </a:r>
            <a:endParaRPr lang="en-US" sz="20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6420917" y="2880360"/>
            <a:ext cx="4652467" cy="6144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Excellent, Good or Poor status and a ranked leaderboard.</a:t>
            </a:r>
            <a:endParaRPr lang="en-US" sz="1500" dirty="0"/>
          </a:p>
        </p:txBody>
      </p:sp>
      <p:sp>
        <p:nvSpPr>
          <p:cNvPr id="13" name="Feature card 3"/>
          <p:cNvSpPr/>
          <p:nvPr/>
        </p:nvSpPr>
        <p:spPr>
          <a:xfrm>
            <a:off x="758952" y="3758184"/>
            <a:ext cx="513527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4" name="Feature 3 circle"/>
          <p:cNvSpPr/>
          <p:nvPr/>
        </p:nvSpPr>
        <p:spPr>
          <a:xfrm>
            <a:off x="1022299" y="4021531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5" name="Feature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891" y="4186123"/>
            <a:ext cx="329184" cy="329184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1900123" y="4021531"/>
            <a:ext cx="3774643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Centralised records</a:t>
            </a:r>
            <a:endParaRPr lang="en-US" sz="20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1022299" y="4811573"/>
            <a:ext cx="4652467" cy="6144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Employees, KPI data and attendance managed in one web app.</a:t>
            </a:r>
            <a:endParaRPr lang="en-US" sz="1500" dirty="0"/>
          </a:p>
        </p:txBody>
      </p:sp>
      <p:sp>
        <p:nvSpPr>
          <p:cNvPr id="18" name="Feature card 4"/>
          <p:cNvSpPr/>
          <p:nvPr/>
        </p:nvSpPr>
        <p:spPr>
          <a:xfrm>
            <a:off x="6157570" y="3758184"/>
            <a:ext cx="513527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9" name="Feature 4 circle"/>
          <p:cNvSpPr/>
          <p:nvPr/>
        </p:nvSpPr>
        <p:spPr>
          <a:xfrm>
            <a:off x="6420917" y="4021531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0" name="Feature 4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509" y="4186123"/>
            <a:ext cx="329184" cy="329184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7298741" y="4021531"/>
            <a:ext cx="3774643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Dashboard and reports</a:t>
            </a:r>
            <a:endParaRPr lang="en-US" sz="20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6420917" y="4811573"/>
            <a:ext cx="4652467" cy="6144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Summary cards, leaderboard and a Report page for performance.</a:t>
            </a:r>
            <a:endParaRPr lang="en-US" sz="1500" dirty="0"/>
          </a:p>
        </p:txBody>
      </p:sp>
      <p:sp>
        <p:nvSpPr>
          <p:cNvPr id="23" name="Proposed strip"/>
          <p:cNvSpPr/>
          <p:nvPr/>
        </p:nvSpPr>
        <p:spPr>
          <a:xfrm>
            <a:off x="758952" y="5733288"/>
            <a:ext cx="10533888" cy="526694"/>
          </a:xfrm>
          <a:prstGeom prst="roundRect">
            <a:avLst>
              <a:gd name="adj" fmla="val 20833"/>
            </a:avLst>
          </a:prstGeom>
          <a:solidFill>
            <a:srgbClr val="002060"/>
          </a:solidFill>
          <a:ln>
            <a:noFill/>
          </a:ln>
        </p:spPr>
        <p:txBody>
          <a:bodyPr wrap="square" lIns="274320" tIns="0" rIns="27432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4B5FD"/>
                </a:solidFill>
                <a:latin typeface="Times New Roman"/>
                <a:cs typeface="Times New Roman"/>
              </a:rPr>
              <a:t xml:space="preserve">Runs in the browser: </a:t>
            </a:r>
            <a:r>
              <a:rPr lang="en-US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React + Vite front end with data stored in localStorage.</a:t>
            </a:r>
            <a:endParaRPr lang="en-US" sz="1500" dirty="0"/>
          </a:p>
        </p:txBody>
      </p:sp>
      <p:sp>
        <p:nvSpPr>
          <p:cNvPr id="24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SYSTEM ARCHITECTURE</a:t>
            </a:r>
          </a:p>
        </p:txBody>
      </p:sp>
      <p:sp>
        <p:nvSpPr>
          <p:cNvPr id="3" name="PRESENTATION label"/>
          <p:cNvSpPr/>
          <p:nvPr/>
        </p:nvSpPr>
        <p:spPr>
          <a:xfrm>
            <a:off x="758952" y="1783080"/>
            <a:ext cx="2194560" cy="1141171"/>
          </a:xfrm>
          <a:prstGeom prst="roundRect">
            <a:avLst>
              <a:gd name="adj" fmla="val 9615"/>
            </a:avLst>
          </a:prstGeom>
          <a:solidFill>
            <a:srgbClr val="C00000"/>
          </a:solidFill>
          <a:ln>
            <a:noFill/>
          </a:ln>
        </p:spPr>
        <p:txBody>
          <a:bodyPr wrap="square" lIns="182880" tIns="45720" rIns="13716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endParaRPr lang="en-US" sz="16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/>
                <a:cs typeface="Times New Roman"/>
              </a:rPr>
              <a:t>React, HTML, CSS, Bootstrap, Chart.js</a:t>
            </a:r>
            <a:endParaRPr lang="en-US" sz="1200" dirty="0"/>
          </a:p>
        </p:txBody>
      </p:sp>
      <p:sp>
        <p:nvSpPr>
          <p:cNvPr id="4" name="PRESENTATION band"/>
          <p:cNvSpPr/>
          <p:nvPr/>
        </p:nvSpPr>
        <p:spPr>
          <a:xfrm>
            <a:off x="3114154" y="1783080"/>
            <a:ext cx="8178686" cy="1141171"/>
          </a:xfrm>
          <a:prstGeom prst="roundRect">
            <a:avLst>
              <a:gd name="adj" fmla="val 9615"/>
            </a:avLst>
          </a:prstGeom>
          <a:solidFill>
            <a:srgbClr val="F4EEF9"/>
          </a:solidFill>
          <a:ln w="9525">
            <a:solidFill>
              <a:srgbClr val="CFCFCF"/>
            </a:solidFill>
          </a:ln>
        </p:spPr>
      </p:sp>
      <p:sp>
        <p:nvSpPr>
          <p:cNvPr id="5" name="PRESENTATION box 1"/>
          <p:cNvSpPr/>
          <p:nvPr/>
        </p:nvSpPr>
        <p:spPr>
          <a:xfrm>
            <a:off x="3245827" y="1958645"/>
            <a:ext cx="1477729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Dashboard</a:t>
            </a:r>
            <a:endParaRPr lang="en-US" sz="1500" dirty="0"/>
          </a:p>
        </p:txBody>
      </p:sp>
      <p:sp>
        <p:nvSpPr>
          <p:cNvPr id="6" name="PRESENTATION box 2"/>
          <p:cNvSpPr/>
          <p:nvPr/>
        </p:nvSpPr>
        <p:spPr>
          <a:xfrm>
            <a:off x="4855230" y="1958645"/>
            <a:ext cx="1477729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Employees</a:t>
            </a:r>
            <a:endParaRPr lang="en-US" sz="1500" dirty="0"/>
          </a:p>
        </p:txBody>
      </p:sp>
      <p:sp>
        <p:nvSpPr>
          <p:cNvPr id="7" name="PRESENTATION box 3"/>
          <p:cNvSpPr/>
          <p:nvPr/>
        </p:nvSpPr>
        <p:spPr>
          <a:xfrm>
            <a:off x="6464632" y="1958645"/>
            <a:ext cx="1477729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KPI</a:t>
            </a:r>
            <a:endParaRPr lang="en-US" sz="1500" dirty="0"/>
          </a:p>
        </p:txBody>
      </p:sp>
      <p:sp>
        <p:nvSpPr>
          <p:cNvPr id="8" name="PRESENTATION box 4"/>
          <p:cNvSpPr/>
          <p:nvPr/>
        </p:nvSpPr>
        <p:spPr>
          <a:xfrm>
            <a:off x="8074035" y="1958645"/>
            <a:ext cx="1477729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Attendance</a:t>
            </a:r>
            <a:endParaRPr lang="en-US" sz="1500" dirty="0"/>
          </a:p>
        </p:txBody>
      </p:sp>
      <p:sp>
        <p:nvSpPr>
          <p:cNvPr id="9" name="PRESENTATION box 5"/>
          <p:cNvSpPr/>
          <p:nvPr/>
        </p:nvSpPr>
        <p:spPr>
          <a:xfrm>
            <a:off x="9683437" y="1958645"/>
            <a:ext cx="1477729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Report</a:t>
            </a:r>
            <a:endParaRPr lang="en-US" sz="1500" dirty="0"/>
          </a:p>
        </p:txBody>
      </p:sp>
      <p:sp>
        <p:nvSpPr>
          <p:cNvPr id="10" name="Flow arrow down 1"/>
          <p:cNvSpPr/>
          <p:nvPr/>
        </p:nvSpPr>
        <p:spPr>
          <a:xfrm>
            <a:off x="6713232" y="2950586"/>
            <a:ext cx="263347" cy="29846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1" name="Flow arrow up 1"/>
          <p:cNvSpPr/>
          <p:nvPr/>
        </p:nvSpPr>
        <p:spPr>
          <a:xfrm>
            <a:off x="7152144" y="2950586"/>
            <a:ext cx="263347" cy="29846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2" name="LOGIC label"/>
          <p:cNvSpPr/>
          <p:nvPr/>
        </p:nvSpPr>
        <p:spPr>
          <a:xfrm>
            <a:off x="758952" y="3275381"/>
            <a:ext cx="2194560" cy="1141171"/>
          </a:xfrm>
          <a:prstGeom prst="roundRect">
            <a:avLst>
              <a:gd name="adj" fmla="val 9615"/>
            </a:avLst>
          </a:prstGeom>
          <a:solidFill>
            <a:srgbClr val="7030A0"/>
          </a:solidFill>
          <a:ln>
            <a:noFill/>
          </a:ln>
        </p:spPr>
        <p:txBody>
          <a:bodyPr wrap="square" lIns="182880" tIns="45720" rIns="13716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endParaRPr lang="en-US" sz="16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/>
                <a:cs typeface="Times New Roman"/>
              </a:rPr>
              <a:t>JavaScript, React Router</a:t>
            </a:r>
            <a:endParaRPr lang="en-US" sz="1200" dirty="0"/>
          </a:p>
        </p:txBody>
      </p:sp>
      <p:sp>
        <p:nvSpPr>
          <p:cNvPr id="13" name="LOGIC band"/>
          <p:cNvSpPr/>
          <p:nvPr/>
        </p:nvSpPr>
        <p:spPr>
          <a:xfrm>
            <a:off x="3114154" y="3275381"/>
            <a:ext cx="8178686" cy="1141171"/>
          </a:xfrm>
          <a:prstGeom prst="roundRect">
            <a:avLst>
              <a:gd name="adj" fmla="val 9615"/>
            </a:avLst>
          </a:prstGeom>
          <a:solidFill>
            <a:srgbClr val="F4EEF9"/>
          </a:solidFill>
          <a:ln w="9525">
            <a:solidFill>
              <a:srgbClr val="CFCFCF"/>
            </a:solidFill>
          </a:ln>
        </p:spPr>
      </p:sp>
      <p:sp>
        <p:nvSpPr>
          <p:cNvPr id="14" name="LOGIC box 1"/>
          <p:cNvSpPr/>
          <p:nvPr/>
        </p:nvSpPr>
        <p:spPr>
          <a:xfrm>
            <a:off x="3245827" y="34509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React Router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Page navigation</a:t>
            </a:r>
            <a:endParaRPr lang="en-US" sz="1200" dirty="0"/>
          </a:p>
        </p:txBody>
      </p:sp>
      <p:sp>
        <p:nvSpPr>
          <p:cNvPr id="15" name="LOGIC box 2"/>
          <p:cNvSpPr/>
          <p:nvPr/>
        </p:nvSpPr>
        <p:spPr>
          <a:xfrm>
            <a:off x="5928165" y="34509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KPI score engine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Tasks×5 + Bugs×3 + Hours×0.5</a:t>
            </a:r>
            <a:endParaRPr lang="en-US" sz="1200" dirty="0"/>
          </a:p>
        </p:txBody>
      </p:sp>
      <p:sp>
        <p:nvSpPr>
          <p:cNvPr id="16" name="LOGIC box 3"/>
          <p:cNvSpPr/>
          <p:nvPr/>
        </p:nvSpPr>
        <p:spPr>
          <a:xfrm>
            <a:off x="8610502" y="34509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Rating and ranking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Excellent / Good / Poor</a:t>
            </a:r>
            <a:endParaRPr lang="en-US" sz="1200" dirty="0"/>
          </a:p>
        </p:txBody>
      </p:sp>
      <p:sp>
        <p:nvSpPr>
          <p:cNvPr id="17" name="Flow arrow down 2"/>
          <p:cNvSpPr/>
          <p:nvPr/>
        </p:nvSpPr>
        <p:spPr>
          <a:xfrm>
            <a:off x="6713232" y="4442887"/>
            <a:ext cx="263347" cy="29846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8" name="Flow arrow up 2"/>
          <p:cNvSpPr/>
          <p:nvPr/>
        </p:nvSpPr>
        <p:spPr>
          <a:xfrm>
            <a:off x="7152144" y="4442887"/>
            <a:ext cx="263347" cy="29846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DATA label"/>
          <p:cNvSpPr/>
          <p:nvPr/>
        </p:nvSpPr>
        <p:spPr>
          <a:xfrm>
            <a:off x="758952" y="4767682"/>
            <a:ext cx="2194560" cy="1141171"/>
          </a:xfrm>
          <a:prstGeom prst="roundRect">
            <a:avLst>
              <a:gd name="adj" fmla="val 9615"/>
            </a:avLst>
          </a:prstGeom>
          <a:solidFill>
            <a:srgbClr val="002060"/>
          </a:solidFill>
          <a:ln>
            <a:noFill/>
          </a:ln>
        </p:spPr>
        <p:txBody>
          <a:bodyPr wrap="square" lIns="182880" tIns="45720" rIns="13716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lang="en-US" sz="16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C9D1FF"/>
                </a:solidFill>
                <a:latin typeface="Times New Roman"/>
                <a:cs typeface="Times New Roman"/>
              </a:rPr>
              <a:t>Browser localStorage</a:t>
            </a:r>
            <a:endParaRPr lang="en-US" sz="1200" dirty="0"/>
          </a:p>
        </p:txBody>
      </p:sp>
      <p:sp>
        <p:nvSpPr>
          <p:cNvPr id="20" name="DATA band"/>
          <p:cNvSpPr/>
          <p:nvPr/>
        </p:nvSpPr>
        <p:spPr>
          <a:xfrm>
            <a:off x="3114154" y="4767682"/>
            <a:ext cx="8178686" cy="1141171"/>
          </a:xfrm>
          <a:prstGeom prst="roundRect">
            <a:avLst>
              <a:gd name="adj" fmla="val 9615"/>
            </a:avLst>
          </a:prstGeom>
          <a:solidFill>
            <a:srgbClr val="F4EEF9"/>
          </a:solidFill>
          <a:ln w="9525">
            <a:solidFill>
              <a:srgbClr val="CFCFCF"/>
            </a:solidFill>
          </a:ln>
        </p:spPr>
      </p:sp>
      <p:sp>
        <p:nvSpPr>
          <p:cNvPr id="21" name="DATA box 1"/>
          <p:cNvSpPr/>
          <p:nvPr/>
        </p:nvSpPr>
        <p:spPr>
          <a:xfrm>
            <a:off x="3245827" y="49432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Employees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Employee records</a:t>
            </a:r>
            <a:endParaRPr lang="en-US" sz="1200" dirty="0"/>
          </a:p>
        </p:txBody>
      </p:sp>
      <p:sp>
        <p:nvSpPr>
          <p:cNvPr id="22" name="DATA box 2"/>
          <p:cNvSpPr/>
          <p:nvPr/>
        </p:nvSpPr>
        <p:spPr>
          <a:xfrm>
            <a:off x="5928165" y="49432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KPI entries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Tasks, Bugs, Hours</a:t>
            </a:r>
            <a:endParaRPr lang="en-US" sz="1200" dirty="0"/>
          </a:p>
        </p:txBody>
      </p:sp>
      <p:sp>
        <p:nvSpPr>
          <p:cNvPr id="23" name="DATA box 3"/>
          <p:cNvSpPr/>
          <p:nvPr/>
        </p:nvSpPr>
        <p:spPr>
          <a:xfrm>
            <a:off x="8610502" y="4943246"/>
            <a:ext cx="2550664" cy="79004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  <p:txBody>
          <a:bodyPr wrap="square" lIns="45720" tIns="27432" rIns="45720" bIns="2743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Attendance</a:t>
            </a:r>
            <a:endParaRPr lang="en-US" sz="15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Attendance records</a:t>
            </a:r>
            <a:endParaRPr lang="en-US" sz="1200" dirty="0"/>
          </a:p>
        </p:txBody>
      </p:sp>
      <p:sp>
        <p:nvSpPr>
          <p:cNvPr id="24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SYSTEM WORKFLOW</a:t>
            </a:r>
          </a:p>
        </p:txBody>
      </p:sp>
      <p:sp>
        <p:nvSpPr>
          <p:cNvPr id="3" name="Step 1 header"/>
          <p:cNvSpPr/>
          <p:nvPr/>
        </p:nvSpPr>
        <p:spPr>
          <a:xfrm>
            <a:off x="758952" y="1826971"/>
            <a:ext cx="1685422" cy="74615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1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Open KPI Hub</a:t>
            </a:r>
            <a:endParaRPr lang="en-US" sz="1400" dirty="0"/>
          </a:p>
        </p:txBody>
      </p:sp>
      <p:sp>
        <p:nvSpPr>
          <p:cNvPr id="4" name="Step 1 detail"/>
          <p:cNvSpPr/>
          <p:nvPr/>
        </p:nvSpPr>
        <p:spPr>
          <a:xfrm>
            <a:off x="758952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5" name="Step 1 text"/>
          <p:cNvSpPr txBox="1"/>
          <p:nvPr/>
        </p:nvSpPr>
        <p:spPr>
          <a:xfrm>
            <a:off x="864291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Move between pages from the sidebar.</a:t>
            </a:r>
            <a:endParaRPr lang="en-US" sz="1400" dirty="0"/>
          </a:p>
        </p:txBody>
      </p:sp>
      <p:sp>
        <p:nvSpPr>
          <p:cNvPr id="6" name="Step 2 header"/>
          <p:cNvSpPr/>
          <p:nvPr/>
        </p:nvSpPr>
        <p:spPr>
          <a:xfrm>
            <a:off x="2514600" y="1826971"/>
            <a:ext cx="1685422" cy="74615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2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Add employees</a:t>
            </a:r>
            <a:endParaRPr lang="en-US" sz="1400" dirty="0"/>
          </a:p>
        </p:txBody>
      </p:sp>
      <p:sp>
        <p:nvSpPr>
          <p:cNvPr id="7" name="Step 2 detail"/>
          <p:cNvSpPr/>
          <p:nvPr/>
        </p:nvSpPr>
        <p:spPr>
          <a:xfrm>
            <a:off x="2514600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Step 2 text"/>
          <p:cNvSpPr txBox="1"/>
          <p:nvPr/>
        </p:nvSpPr>
        <p:spPr>
          <a:xfrm>
            <a:off x="2619939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Create records with name, role and department.</a:t>
            </a:r>
            <a:endParaRPr lang="en-US" sz="1400" dirty="0"/>
          </a:p>
        </p:txBody>
      </p:sp>
      <p:sp>
        <p:nvSpPr>
          <p:cNvPr id="9" name="Step 3 header"/>
          <p:cNvSpPr/>
          <p:nvPr/>
        </p:nvSpPr>
        <p:spPr>
          <a:xfrm>
            <a:off x="4270248" y="1826971"/>
            <a:ext cx="1685422" cy="74615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3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Enter KPI data</a:t>
            </a:r>
            <a:endParaRPr lang="en-US" sz="1400" dirty="0"/>
          </a:p>
        </p:txBody>
      </p:sp>
      <p:sp>
        <p:nvSpPr>
          <p:cNvPr id="10" name="Step 3 detail"/>
          <p:cNvSpPr/>
          <p:nvPr/>
        </p:nvSpPr>
        <p:spPr>
          <a:xfrm>
            <a:off x="4270248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1" name="Step 3 text"/>
          <p:cNvSpPr txBox="1"/>
          <p:nvPr/>
        </p:nvSpPr>
        <p:spPr>
          <a:xfrm>
            <a:off x="4375587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Record Tasks, Bugs and Hours; mark attendance.</a:t>
            </a:r>
            <a:endParaRPr lang="en-US" sz="1400" dirty="0"/>
          </a:p>
        </p:txBody>
      </p:sp>
      <p:sp>
        <p:nvSpPr>
          <p:cNvPr id="12" name="Step 4 header"/>
          <p:cNvSpPr/>
          <p:nvPr/>
        </p:nvSpPr>
        <p:spPr>
          <a:xfrm>
            <a:off x="6025896" y="1826971"/>
            <a:ext cx="1685422" cy="746150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4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Calculate score</a:t>
            </a:r>
            <a:endParaRPr lang="en-US" sz="1400" dirty="0"/>
          </a:p>
        </p:txBody>
      </p:sp>
      <p:sp>
        <p:nvSpPr>
          <p:cNvPr id="13" name="Step 4 detail"/>
          <p:cNvSpPr/>
          <p:nvPr/>
        </p:nvSpPr>
        <p:spPr>
          <a:xfrm>
            <a:off x="6025896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4" name="Step 4 text"/>
          <p:cNvSpPr txBox="1"/>
          <p:nvPr/>
        </p:nvSpPr>
        <p:spPr>
          <a:xfrm>
            <a:off x="6131235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Tasks×5 + Bugs×3 + Hours×0.5.</a:t>
            </a:r>
            <a:endParaRPr lang="en-US" sz="1400" dirty="0"/>
          </a:p>
        </p:txBody>
      </p:sp>
      <p:sp>
        <p:nvSpPr>
          <p:cNvPr id="15" name="Step 5 header"/>
          <p:cNvSpPr/>
          <p:nvPr/>
        </p:nvSpPr>
        <p:spPr>
          <a:xfrm>
            <a:off x="7781544" y="1826971"/>
            <a:ext cx="1685422" cy="746150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5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Assign rating</a:t>
            </a:r>
            <a:endParaRPr lang="en-US" sz="1400" dirty="0"/>
          </a:p>
        </p:txBody>
      </p:sp>
      <p:sp>
        <p:nvSpPr>
          <p:cNvPr id="16" name="Step 5 detail"/>
          <p:cNvSpPr/>
          <p:nvPr/>
        </p:nvSpPr>
        <p:spPr>
          <a:xfrm>
            <a:off x="7781544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7" name="Step 5 text"/>
          <p:cNvSpPr txBox="1"/>
          <p:nvPr/>
        </p:nvSpPr>
        <p:spPr>
          <a:xfrm>
            <a:off x="7886883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Compare the score with the thresholds.</a:t>
            </a:r>
            <a:endParaRPr lang="en-US" sz="1400" dirty="0"/>
          </a:p>
        </p:txBody>
      </p:sp>
      <p:sp>
        <p:nvSpPr>
          <p:cNvPr id="18" name="Step 6 header"/>
          <p:cNvSpPr/>
          <p:nvPr/>
        </p:nvSpPr>
        <p:spPr>
          <a:xfrm>
            <a:off x="9537192" y="1826971"/>
            <a:ext cx="1685422" cy="746150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txBody>
          <a:bodyPr wrap="square" lIns="109728" tIns="27432" rIns="201168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 xml:space="preserve">6  </a:t>
            </a: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Update dashboard</a:t>
            </a:r>
            <a:endParaRPr lang="en-US" sz="1400" dirty="0"/>
          </a:p>
        </p:txBody>
      </p:sp>
      <p:sp>
        <p:nvSpPr>
          <p:cNvPr id="19" name="Step 6 detail"/>
          <p:cNvSpPr/>
          <p:nvPr/>
        </p:nvSpPr>
        <p:spPr>
          <a:xfrm>
            <a:off x="9537192" y="2660904"/>
            <a:ext cx="1623974" cy="114117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0" name="Step 6 text"/>
          <p:cNvSpPr txBox="1"/>
          <p:nvPr/>
        </p:nvSpPr>
        <p:spPr>
          <a:xfrm>
            <a:off x="9642531" y="2748686"/>
            <a:ext cx="1422075" cy="1009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Cards, leaderboard and reports refresh.</a:t>
            </a:r>
            <a:endParaRPr lang="en-US" sz="1400" dirty="0"/>
          </a:p>
        </p:txBody>
      </p:sp>
      <p:sp>
        <p:nvSpPr>
          <p:cNvPr id="21" name="Rating label"/>
          <p:cNvSpPr txBox="1"/>
          <p:nvPr/>
        </p:nvSpPr>
        <p:spPr>
          <a:xfrm>
            <a:off x="758952" y="4284878"/>
            <a:ext cx="2633472" cy="307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595959"/>
                </a:solidFill>
                <a:latin typeface="Times New Roman"/>
                <a:cs typeface="Times New Roman"/>
              </a:rPr>
              <a:t>RATING RULE</a:t>
            </a:r>
            <a:endParaRPr lang="en-US" sz="1300" dirty="0"/>
          </a:p>
        </p:txBody>
      </p:sp>
      <p:sp>
        <p:nvSpPr>
          <p:cNvPr id="22" name="Excellent rating"/>
          <p:cNvSpPr/>
          <p:nvPr/>
        </p:nvSpPr>
        <p:spPr>
          <a:xfrm>
            <a:off x="758952" y="4636008"/>
            <a:ext cx="3335731" cy="833933"/>
          </a:xfrm>
          <a:prstGeom prst="roundRect">
            <a:avLst>
              <a:gd name="adj" fmla="val 15350"/>
            </a:avLst>
          </a:prstGeom>
          <a:solidFill>
            <a:srgbClr val="DCFCE7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5803D"/>
                </a:solidFill>
                <a:latin typeface="Times New Roman"/>
                <a:cs typeface="Times New Roman"/>
              </a:rPr>
              <a:t>Excellent</a:t>
            </a:r>
            <a:endParaRPr lang="en-US" sz="20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5803D"/>
                </a:solidFill>
                <a:latin typeface="Times New Roman"/>
                <a:cs typeface="Times New Roman"/>
              </a:rPr>
              <a:t>120 or above</a:t>
            </a:r>
            <a:endParaRPr lang="en-US" sz="1400" dirty="0"/>
          </a:p>
        </p:txBody>
      </p:sp>
      <p:sp>
        <p:nvSpPr>
          <p:cNvPr id="23" name="Good rating"/>
          <p:cNvSpPr/>
          <p:nvPr/>
        </p:nvSpPr>
        <p:spPr>
          <a:xfrm>
            <a:off x="4358030" y="4636008"/>
            <a:ext cx="3335731" cy="833933"/>
          </a:xfrm>
          <a:prstGeom prst="roundRect">
            <a:avLst>
              <a:gd name="adj" fmla="val 15350"/>
            </a:avLst>
          </a:prstGeom>
          <a:solidFill>
            <a:srgbClr val="FEF3C7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B45309"/>
                </a:solidFill>
                <a:latin typeface="Times New Roman"/>
                <a:cs typeface="Times New Roman"/>
              </a:rPr>
              <a:t>Good</a:t>
            </a:r>
            <a:endParaRPr lang="en-US" sz="20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45309"/>
                </a:solidFill>
                <a:latin typeface="Times New Roman"/>
                <a:cs typeface="Times New Roman"/>
              </a:rPr>
              <a:t>90 and above, below 120</a:t>
            </a:r>
            <a:endParaRPr lang="en-US" sz="1400" dirty="0"/>
          </a:p>
        </p:txBody>
      </p:sp>
      <p:sp>
        <p:nvSpPr>
          <p:cNvPr id="24" name="Poor rating"/>
          <p:cNvSpPr/>
          <p:nvPr/>
        </p:nvSpPr>
        <p:spPr>
          <a:xfrm>
            <a:off x="7957109" y="4636008"/>
            <a:ext cx="3335731" cy="833933"/>
          </a:xfrm>
          <a:prstGeom prst="roundRect">
            <a:avLst>
              <a:gd name="adj" fmla="val 15350"/>
            </a:avLst>
          </a:prstGeom>
          <a:solidFill>
            <a:srgbClr val="FEE2E2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B91C1C"/>
                </a:solidFill>
                <a:latin typeface="Times New Roman"/>
                <a:cs typeface="Times New Roman"/>
              </a:rPr>
              <a:t>Poor</a:t>
            </a:r>
            <a:endParaRPr lang="en-US" sz="20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91C1C"/>
                </a:solidFill>
                <a:latin typeface="Times New Roman"/>
                <a:cs typeface="Times New Roman"/>
              </a:rPr>
              <a:t>Below 90</a:t>
            </a:r>
            <a:endParaRPr lang="en-US" sz="1400" dirty="0"/>
          </a:p>
        </p:txBody>
      </p:sp>
      <p:sp>
        <p:nvSpPr>
          <p:cNvPr id="25" name="Storage strip"/>
          <p:cNvSpPr/>
          <p:nvPr/>
        </p:nvSpPr>
        <p:spPr>
          <a:xfrm>
            <a:off x="758952" y="5689397"/>
            <a:ext cx="10533888" cy="482803"/>
          </a:xfrm>
          <a:prstGeom prst="roundRect">
            <a:avLst>
              <a:gd name="adj" fmla="val 22727"/>
            </a:avLst>
          </a:prstGeom>
          <a:solidFill>
            <a:srgbClr val="002060"/>
          </a:solidFill>
          <a:ln>
            <a:noFill/>
          </a:ln>
        </p:spPr>
        <p:txBody>
          <a:bodyPr wrap="square" lIns="274320" tIns="0" rIns="27432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Every step reads from and writes to the browser’s localStorage.</a:t>
            </a:r>
            <a:endParaRPr lang="en-US" sz="1500" dirty="0"/>
          </a:p>
        </p:txBody>
      </p:sp>
      <p:sp>
        <p:nvSpPr>
          <p:cNvPr id="2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DASHBOARD</a:t>
            </a:r>
          </a:p>
        </p:txBody>
      </p:sp>
      <p:pic>
        <p:nvPicPr>
          <p:cNvPr id="3" name="Dashboard screenshot" descr="KPI Hub dashboard: sidebar, summary cards and leader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26971"/>
            <a:ext cx="6934810" cy="3137348"/>
          </a:xfrm>
          <a:prstGeom prst="roundRect">
            <a:avLst>
              <a:gd name="adj" fmla="val 2331"/>
            </a:avLst>
          </a:prstGeom>
          <a:ln w="12700">
            <a:solidFill>
              <a:srgbClr val="CFCFCF"/>
            </a:solidFill>
          </a:ln>
          <a:effectLst>
            <a:outerShdw blurRad="190500" dist="50800" dir="5400000" algn="t" rotWithShape="0">
              <a:srgbClr val="0F1A44">
                <a:alpha val="25000"/>
              </a:srgbClr>
            </a:outerShdw>
          </a:effectLst>
        </p:spPr>
      </p:pic>
      <p:sp>
        <p:nvSpPr>
          <p:cNvPr id="4" name="Callout 1"/>
          <p:cNvSpPr/>
          <p:nvPr/>
        </p:nvSpPr>
        <p:spPr>
          <a:xfrm>
            <a:off x="1245603" y="3855094"/>
            <a:ext cx="368686" cy="368686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lang="en-US" sz="1400" dirty="0"/>
          </a:p>
        </p:txBody>
      </p:sp>
      <p:sp>
        <p:nvSpPr>
          <p:cNvPr id="5" name="Callout 2"/>
          <p:cNvSpPr/>
          <p:nvPr/>
        </p:nvSpPr>
        <p:spPr>
          <a:xfrm>
            <a:off x="7248275" y="2186677"/>
            <a:ext cx="368686" cy="368686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lang="en-US" sz="1400" dirty="0"/>
          </a:p>
        </p:txBody>
      </p:sp>
      <p:sp>
        <p:nvSpPr>
          <p:cNvPr id="6" name="Callout 3"/>
          <p:cNvSpPr/>
          <p:nvPr/>
        </p:nvSpPr>
        <p:spPr>
          <a:xfrm>
            <a:off x="4201601" y="3963903"/>
            <a:ext cx="368686" cy="368686"/>
          </a:xfrm>
          <a:prstGeom prst="ellipse">
            <a:avLst/>
          </a:prstGeom>
          <a:solidFill>
            <a:srgbClr val="7030A0"/>
          </a:solidFill>
          <a:ln w="25400">
            <a:solidFill>
              <a:srgbClr val="FFFFFF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lang="en-US" sz="1400" dirty="0"/>
          </a:p>
        </p:txBody>
      </p:sp>
      <p:sp>
        <p:nvSpPr>
          <p:cNvPr id="7" name="Dashboard caption"/>
          <p:cNvSpPr txBox="1"/>
          <p:nvPr/>
        </p:nvSpPr>
        <p:spPr>
          <a:xfrm>
            <a:off x="758952" y="5139884"/>
            <a:ext cx="6934810" cy="702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Times New Roman"/>
                <a:cs typeface="Times New Roman"/>
              </a:rPr>
              <a:t>Sample view: one employee, raj (IT), scores 274 and is rated Excellent, so the Avg Score card also shows 274.</a:t>
            </a:r>
            <a:endParaRPr lang="en-US" sz="1400" dirty="0"/>
          </a:p>
        </p:txBody>
      </p:sp>
      <p:sp>
        <p:nvSpPr>
          <p:cNvPr id="8" name="Callout card 1"/>
          <p:cNvSpPr/>
          <p:nvPr/>
        </p:nvSpPr>
        <p:spPr>
          <a:xfrm>
            <a:off x="8029968" y="1826971"/>
            <a:ext cx="3262872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9" name="Callout badge 1"/>
          <p:cNvSpPr/>
          <p:nvPr/>
        </p:nvSpPr>
        <p:spPr>
          <a:xfrm>
            <a:off x="8205533" y="2002536"/>
            <a:ext cx="395021" cy="395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lang="en-US" sz="1500" dirty="0"/>
          </a:p>
        </p:txBody>
      </p:sp>
      <p:sp>
        <p:nvSpPr>
          <p:cNvPr id="10" name="Callout 1 text"/>
          <p:cNvSpPr txBox="1"/>
          <p:nvPr/>
        </p:nvSpPr>
        <p:spPr>
          <a:xfrm>
            <a:off x="8732227" y="1958645"/>
            <a:ext cx="2457907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Sidebar</a:t>
            </a:r>
            <a:endParaRPr lang="en-US" sz="16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Dashboard, Employees, KPI, Attendance and Report, plus a Dark mode toggle and Logout.</a:t>
            </a:r>
            <a:endParaRPr lang="en-US" sz="1300" dirty="0"/>
          </a:p>
        </p:txBody>
      </p:sp>
      <p:sp>
        <p:nvSpPr>
          <p:cNvPr id="11" name="Callout card 2"/>
          <p:cNvSpPr/>
          <p:nvPr/>
        </p:nvSpPr>
        <p:spPr>
          <a:xfrm>
            <a:off x="8029968" y="3231490"/>
            <a:ext cx="3262872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2" name="Callout badge 2"/>
          <p:cNvSpPr/>
          <p:nvPr/>
        </p:nvSpPr>
        <p:spPr>
          <a:xfrm>
            <a:off x="8205533" y="3407054"/>
            <a:ext cx="395021" cy="395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lang="en-US" sz="1500" dirty="0"/>
          </a:p>
        </p:txBody>
      </p:sp>
      <p:sp>
        <p:nvSpPr>
          <p:cNvPr id="13" name="Callout 2 text"/>
          <p:cNvSpPr txBox="1"/>
          <p:nvPr/>
        </p:nvSpPr>
        <p:spPr>
          <a:xfrm>
            <a:off x="8732227" y="3363163"/>
            <a:ext cx="2457907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Summary cards</a:t>
            </a:r>
            <a:endParaRPr lang="en-US" sz="16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Employees, Excellent, Good, Poor and Avg Score at a glance.</a:t>
            </a:r>
            <a:endParaRPr lang="en-US" sz="1300" dirty="0"/>
          </a:p>
        </p:txBody>
      </p:sp>
      <p:sp>
        <p:nvSpPr>
          <p:cNvPr id="14" name="Callout card 3"/>
          <p:cNvSpPr/>
          <p:nvPr/>
        </p:nvSpPr>
        <p:spPr>
          <a:xfrm>
            <a:off x="8029968" y="4636008"/>
            <a:ext cx="3262872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5" name="Callout badge 3"/>
          <p:cNvSpPr/>
          <p:nvPr/>
        </p:nvSpPr>
        <p:spPr>
          <a:xfrm>
            <a:off x="8205533" y="4811573"/>
            <a:ext cx="395021" cy="395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lang="en-US" sz="1500" dirty="0"/>
          </a:p>
        </p:txBody>
      </p:sp>
      <p:sp>
        <p:nvSpPr>
          <p:cNvPr id="16" name="Callout 3 text"/>
          <p:cNvSpPr txBox="1"/>
          <p:nvPr/>
        </p:nvSpPr>
        <p:spPr>
          <a:xfrm>
            <a:off x="8732227" y="4767682"/>
            <a:ext cx="2457907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Leaderboard</a:t>
            </a:r>
            <a:endParaRPr lang="en-US" sz="16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Rank, name, department, score bar and status for each employee.</a:t>
            </a:r>
            <a:endParaRPr lang="en-US" sz="13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CORE MODULES</a:t>
            </a:r>
          </a:p>
        </p:txBody>
      </p:sp>
      <p:sp>
        <p:nvSpPr>
          <p:cNvPr id="3" name="Module card 1"/>
          <p:cNvSpPr/>
          <p:nvPr/>
        </p:nvSpPr>
        <p:spPr>
          <a:xfrm>
            <a:off x="758952" y="1826971"/>
            <a:ext cx="5135270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Module 1 circle"/>
          <p:cNvSpPr/>
          <p:nvPr/>
        </p:nvSpPr>
        <p:spPr>
          <a:xfrm>
            <a:off x="1022299" y="2090318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Module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91" y="2254910"/>
            <a:ext cx="329184" cy="329184"/>
          </a:xfrm>
          <a:prstGeom prst="rect">
            <a:avLst/>
          </a:prstGeom>
        </p:spPr>
      </p:pic>
      <p:sp>
        <p:nvSpPr>
          <p:cNvPr id="6" name="Module 1 title"/>
          <p:cNvSpPr txBox="1"/>
          <p:nvPr/>
        </p:nvSpPr>
        <p:spPr>
          <a:xfrm>
            <a:off x="1900123" y="2072762"/>
            <a:ext cx="3862426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Employee Management</a:t>
            </a:r>
            <a:endParaRPr lang="en-US" sz="2000" dirty="0"/>
          </a:p>
        </p:txBody>
      </p:sp>
      <p:sp>
        <p:nvSpPr>
          <p:cNvPr id="7" name="Module 1 tag"/>
          <p:cNvSpPr/>
          <p:nvPr/>
        </p:nvSpPr>
        <p:spPr>
          <a:xfrm>
            <a:off x="1900123" y="2529230"/>
            <a:ext cx="1667866" cy="2633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91440" tIns="0" rIns="9144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7030A0"/>
                </a:solidFill>
                <a:latin typeface="Times New Roman"/>
                <a:cs typeface="Times New Roman"/>
              </a:rPr>
              <a:t>Employees page</a:t>
            </a:r>
            <a:endParaRPr lang="en-US" sz="1200" dirty="0"/>
          </a:p>
        </p:txBody>
      </p:sp>
      <p:sp>
        <p:nvSpPr>
          <p:cNvPr id="8" name="Module 1 text"/>
          <p:cNvSpPr txBox="1"/>
          <p:nvPr/>
        </p:nvSpPr>
        <p:spPr>
          <a:xfrm>
            <a:off x="1022299" y="2968142"/>
            <a:ext cx="4652467" cy="702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Create and manage employee records. Name, role and department appear on the leaderboard.</a:t>
            </a:r>
            <a:endParaRPr lang="en-US" sz="1600" dirty="0"/>
          </a:p>
        </p:txBody>
      </p:sp>
      <p:sp>
        <p:nvSpPr>
          <p:cNvPr id="9" name="Module card 2"/>
          <p:cNvSpPr/>
          <p:nvPr/>
        </p:nvSpPr>
        <p:spPr>
          <a:xfrm>
            <a:off x="6157570" y="1826971"/>
            <a:ext cx="5135270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0" name="Module 2 circle"/>
          <p:cNvSpPr/>
          <p:nvPr/>
        </p:nvSpPr>
        <p:spPr>
          <a:xfrm>
            <a:off x="6420917" y="2090318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1" name="Module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09" y="2254910"/>
            <a:ext cx="329184" cy="329184"/>
          </a:xfrm>
          <a:prstGeom prst="rect">
            <a:avLst/>
          </a:prstGeom>
        </p:spPr>
      </p:pic>
      <p:sp>
        <p:nvSpPr>
          <p:cNvPr id="12" name="Module 2 title"/>
          <p:cNvSpPr txBox="1"/>
          <p:nvPr/>
        </p:nvSpPr>
        <p:spPr>
          <a:xfrm>
            <a:off x="7298741" y="2072762"/>
            <a:ext cx="3862426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KPI Scoring</a:t>
            </a:r>
            <a:endParaRPr lang="en-US" sz="2000" dirty="0"/>
          </a:p>
        </p:txBody>
      </p:sp>
      <p:sp>
        <p:nvSpPr>
          <p:cNvPr id="13" name="Module 2 tag"/>
          <p:cNvSpPr/>
          <p:nvPr/>
        </p:nvSpPr>
        <p:spPr>
          <a:xfrm>
            <a:off x="7298741" y="2529230"/>
            <a:ext cx="1667866" cy="2633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91440" tIns="0" rIns="9144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7030A0"/>
                </a:solidFill>
                <a:latin typeface="Times New Roman"/>
                <a:cs typeface="Times New Roman"/>
              </a:rPr>
              <a:t>KPI page</a:t>
            </a:r>
            <a:endParaRPr lang="en-US" sz="1200" dirty="0"/>
          </a:p>
        </p:txBody>
      </p:sp>
      <p:sp>
        <p:nvSpPr>
          <p:cNvPr id="14" name="Module 2 text"/>
          <p:cNvSpPr txBox="1"/>
          <p:nvPr/>
        </p:nvSpPr>
        <p:spPr>
          <a:xfrm>
            <a:off x="6420917" y="2968142"/>
            <a:ext cx="4652467" cy="702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Enter Tasks, Bugs and Hours. The score and rating are calculated automatically.</a:t>
            </a:r>
            <a:endParaRPr lang="en-US" sz="1600" dirty="0"/>
          </a:p>
        </p:txBody>
      </p:sp>
      <p:sp>
        <p:nvSpPr>
          <p:cNvPr id="15" name="Module card 3"/>
          <p:cNvSpPr/>
          <p:nvPr/>
        </p:nvSpPr>
        <p:spPr>
          <a:xfrm>
            <a:off x="758952" y="3977640"/>
            <a:ext cx="5135270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6" name="Module 3 circle"/>
          <p:cNvSpPr/>
          <p:nvPr/>
        </p:nvSpPr>
        <p:spPr>
          <a:xfrm>
            <a:off x="1022299" y="4240987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7" name="Module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891" y="4405579"/>
            <a:ext cx="329184" cy="329184"/>
          </a:xfrm>
          <a:prstGeom prst="rect">
            <a:avLst/>
          </a:prstGeom>
        </p:spPr>
      </p:pic>
      <p:sp>
        <p:nvSpPr>
          <p:cNvPr id="18" name="Module 3 title"/>
          <p:cNvSpPr txBox="1"/>
          <p:nvPr/>
        </p:nvSpPr>
        <p:spPr>
          <a:xfrm>
            <a:off x="1900123" y="4223431"/>
            <a:ext cx="3862426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Attendance</a:t>
            </a:r>
            <a:endParaRPr lang="en-US" sz="2000" dirty="0"/>
          </a:p>
        </p:txBody>
      </p:sp>
      <p:sp>
        <p:nvSpPr>
          <p:cNvPr id="19" name="Module 3 tag"/>
          <p:cNvSpPr/>
          <p:nvPr/>
        </p:nvSpPr>
        <p:spPr>
          <a:xfrm>
            <a:off x="1900123" y="4679899"/>
            <a:ext cx="1667866" cy="2633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91440" tIns="0" rIns="9144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7030A0"/>
                </a:solidFill>
                <a:latin typeface="Times New Roman"/>
                <a:cs typeface="Times New Roman"/>
              </a:rPr>
              <a:t>Attendance page</a:t>
            </a:r>
            <a:endParaRPr lang="en-US" sz="1200" dirty="0"/>
          </a:p>
        </p:txBody>
      </p:sp>
      <p:sp>
        <p:nvSpPr>
          <p:cNvPr id="20" name="Module 3 text"/>
          <p:cNvSpPr txBox="1"/>
          <p:nvPr/>
        </p:nvSpPr>
        <p:spPr>
          <a:xfrm>
            <a:off x="1022299" y="5118811"/>
            <a:ext cx="4652467" cy="702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Record and review employee attendance.</a:t>
            </a:r>
            <a:endParaRPr lang="en-US" sz="1600" dirty="0"/>
          </a:p>
        </p:txBody>
      </p:sp>
      <p:sp>
        <p:nvSpPr>
          <p:cNvPr id="21" name="Module card 4"/>
          <p:cNvSpPr/>
          <p:nvPr/>
        </p:nvSpPr>
        <p:spPr>
          <a:xfrm>
            <a:off x="6157570" y="3977640"/>
            <a:ext cx="5135270" cy="1931213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2" name="Module 4 circle"/>
          <p:cNvSpPr/>
          <p:nvPr/>
        </p:nvSpPr>
        <p:spPr>
          <a:xfrm>
            <a:off x="6420917" y="4240987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3" name="Module 4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509" y="4405579"/>
            <a:ext cx="329184" cy="329184"/>
          </a:xfrm>
          <a:prstGeom prst="rect">
            <a:avLst/>
          </a:prstGeom>
        </p:spPr>
      </p:pic>
      <p:sp>
        <p:nvSpPr>
          <p:cNvPr id="24" name="Module 4 title"/>
          <p:cNvSpPr txBox="1"/>
          <p:nvPr/>
        </p:nvSpPr>
        <p:spPr>
          <a:xfrm>
            <a:off x="7298741" y="4223431"/>
            <a:ext cx="3862426" cy="395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Leaderboard and Reports</a:t>
            </a:r>
            <a:endParaRPr lang="en-US" sz="2000" dirty="0"/>
          </a:p>
        </p:txBody>
      </p:sp>
      <p:sp>
        <p:nvSpPr>
          <p:cNvPr id="25" name="Module 4 tag"/>
          <p:cNvSpPr/>
          <p:nvPr/>
        </p:nvSpPr>
        <p:spPr>
          <a:xfrm>
            <a:off x="7298741" y="4679899"/>
            <a:ext cx="2457907" cy="2633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  <p:txBody>
          <a:bodyPr wrap="square" lIns="91440" tIns="0" rIns="9144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7030A0"/>
                </a:solidFill>
                <a:latin typeface="Times New Roman"/>
                <a:cs typeface="Times New Roman"/>
              </a:rPr>
              <a:t>Dashboard and Report pages</a:t>
            </a:r>
            <a:endParaRPr lang="en-US" sz="1200" dirty="0"/>
          </a:p>
        </p:txBody>
      </p:sp>
      <p:sp>
        <p:nvSpPr>
          <p:cNvPr id="26" name="Module 4 text"/>
          <p:cNvSpPr txBox="1"/>
          <p:nvPr/>
        </p:nvSpPr>
        <p:spPr>
          <a:xfrm>
            <a:off x="6420917" y="5118811"/>
            <a:ext cx="4652467" cy="702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ranked leaderboard on the dashboard; the Report page summarises performance.</a:t>
            </a:r>
            <a:endParaRPr lang="en-US" sz="1600" dirty="0"/>
          </a:p>
        </p:txBody>
      </p:sp>
      <p:sp>
        <p:nvSpPr>
          <p:cNvPr id="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KPI SCORING LOGIC</a:t>
            </a:r>
          </a:p>
        </p:txBody>
      </p:sp>
      <p:sp>
        <p:nvSpPr>
          <p:cNvPr id="3" name="Formula banner"/>
          <p:cNvSpPr/>
          <p:nvPr/>
        </p:nvSpPr>
        <p:spPr>
          <a:xfrm>
            <a:off x="758952" y="1783080"/>
            <a:ext cx="10533888" cy="1009498"/>
          </a:xfrm>
          <a:prstGeom prst="roundRect">
            <a:avLst>
              <a:gd name="adj" fmla="val 13586"/>
            </a:avLst>
          </a:prstGeom>
          <a:solidFill>
            <a:srgbClr val="002060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Score = (Tasks × 5) + (Bugs × 3) + (Hours × 0.5)</a:t>
            </a:r>
            <a:endParaRPr lang="en-US" sz="3200" dirty="0"/>
          </a:p>
        </p:txBody>
      </p:sp>
      <p:sp>
        <p:nvSpPr>
          <p:cNvPr id="4" name="Weight card 1"/>
          <p:cNvSpPr/>
          <p:nvPr/>
        </p:nvSpPr>
        <p:spPr>
          <a:xfrm>
            <a:off x="758952" y="3012034"/>
            <a:ext cx="3335731" cy="118506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5" name="Weight 1 multiplier"/>
          <p:cNvSpPr txBox="1"/>
          <p:nvPr/>
        </p:nvSpPr>
        <p:spPr>
          <a:xfrm>
            <a:off x="978408" y="3012034"/>
            <a:ext cx="1316736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× 5</a:t>
            </a:r>
            <a:endParaRPr lang="en-US" sz="3200" dirty="0"/>
          </a:p>
        </p:txBody>
      </p:sp>
      <p:sp>
        <p:nvSpPr>
          <p:cNvPr id="6" name="Weight 1 text"/>
          <p:cNvSpPr txBox="1"/>
          <p:nvPr/>
        </p:nvSpPr>
        <p:spPr>
          <a:xfrm>
            <a:off x="2339035" y="3012034"/>
            <a:ext cx="1623974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Tasks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5 points per task</a:t>
            </a:r>
            <a:endParaRPr lang="en-US" sz="1300" dirty="0"/>
          </a:p>
        </p:txBody>
      </p:sp>
      <p:sp>
        <p:nvSpPr>
          <p:cNvPr id="7" name="Weight card 2"/>
          <p:cNvSpPr/>
          <p:nvPr/>
        </p:nvSpPr>
        <p:spPr>
          <a:xfrm>
            <a:off x="4358030" y="3012034"/>
            <a:ext cx="3335731" cy="118506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Weight 2 multiplier"/>
          <p:cNvSpPr txBox="1"/>
          <p:nvPr/>
        </p:nvSpPr>
        <p:spPr>
          <a:xfrm>
            <a:off x="4577486" y="3012034"/>
            <a:ext cx="1316736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latin typeface="Times New Roman"/>
                <a:cs typeface="Times New Roman"/>
              </a:rPr>
              <a:t>× 3</a:t>
            </a:r>
            <a:endParaRPr lang="en-US" sz="3200" dirty="0"/>
          </a:p>
        </p:txBody>
      </p:sp>
      <p:sp>
        <p:nvSpPr>
          <p:cNvPr id="9" name="Weight 2 text"/>
          <p:cNvSpPr txBox="1"/>
          <p:nvPr/>
        </p:nvSpPr>
        <p:spPr>
          <a:xfrm>
            <a:off x="5938114" y="3012034"/>
            <a:ext cx="1623974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Bugs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3 points per bug</a:t>
            </a:r>
            <a:endParaRPr lang="en-US" sz="1300" dirty="0"/>
          </a:p>
        </p:txBody>
      </p:sp>
      <p:sp>
        <p:nvSpPr>
          <p:cNvPr id="10" name="Weight card 3"/>
          <p:cNvSpPr/>
          <p:nvPr/>
        </p:nvSpPr>
        <p:spPr>
          <a:xfrm>
            <a:off x="7957109" y="3012034"/>
            <a:ext cx="3335731" cy="118506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1" name="Weight 3 multiplier"/>
          <p:cNvSpPr txBox="1"/>
          <p:nvPr/>
        </p:nvSpPr>
        <p:spPr>
          <a:xfrm>
            <a:off x="8176565" y="3012034"/>
            <a:ext cx="1316736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× 0.5</a:t>
            </a:r>
            <a:endParaRPr lang="en-US" sz="3200" dirty="0"/>
          </a:p>
        </p:txBody>
      </p:sp>
      <p:sp>
        <p:nvSpPr>
          <p:cNvPr id="12" name="Weight 3 text"/>
          <p:cNvSpPr txBox="1"/>
          <p:nvPr/>
        </p:nvSpPr>
        <p:spPr>
          <a:xfrm>
            <a:off x="9537192" y="3012034"/>
            <a:ext cx="1623974" cy="1185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Hours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0.5 points per hour</a:t>
            </a:r>
            <a:endParaRPr lang="en-US" sz="1300" dirty="0"/>
          </a:p>
        </p:txBody>
      </p:sp>
      <p:sp>
        <p:nvSpPr>
          <p:cNvPr id="13" name="Excellent band"/>
          <p:cNvSpPr/>
          <p:nvPr/>
        </p:nvSpPr>
        <p:spPr>
          <a:xfrm>
            <a:off x="758952" y="4416552"/>
            <a:ext cx="3335731" cy="1053389"/>
          </a:xfrm>
          <a:prstGeom prst="roundRect">
            <a:avLst>
              <a:gd name="adj" fmla="val 12152"/>
            </a:avLst>
          </a:prstGeom>
          <a:solidFill>
            <a:srgbClr val="DCFCE7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5803D"/>
                </a:solidFill>
                <a:latin typeface="Times New Roman"/>
                <a:cs typeface="Times New Roman"/>
              </a:rPr>
              <a:t>Excellent</a:t>
            </a:r>
            <a:endParaRPr lang="en-US" sz="2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5803D"/>
                </a:solidFill>
                <a:latin typeface="Times New Roman"/>
                <a:cs typeface="Times New Roman"/>
              </a:rPr>
              <a:t>Score ≥ 120</a:t>
            </a:r>
            <a:endParaRPr lang="en-US" sz="1600" dirty="0"/>
          </a:p>
        </p:txBody>
      </p:sp>
      <p:sp>
        <p:nvSpPr>
          <p:cNvPr id="14" name="Good band"/>
          <p:cNvSpPr/>
          <p:nvPr/>
        </p:nvSpPr>
        <p:spPr>
          <a:xfrm>
            <a:off x="4358030" y="4416552"/>
            <a:ext cx="3335731" cy="1053389"/>
          </a:xfrm>
          <a:prstGeom prst="roundRect">
            <a:avLst>
              <a:gd name="adj" fmla="val 12152"/>
            </a:avLst>
          </a:prstGeom>
          <a:solidFill>
            <a:srgbClr val="FEF3C7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B45309"/>
                </a:solidFill>
                <a:latin typeface="Times New Roman"/>
                <a:cs typeface="Times New Roman"/>
              </a:rPr>
              <a:t>Good</a:t>
            </a:r>
            <a:endParaRPr lang="en-US" sz="2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B45309"/>
                </a:solidFill>
                <a:latin typeface="Times New Roman"/>
                <a:cs typeface="Times New Roman"/>
              </a:rPr>
              <a:t>Score ≥ 90 and &lt; 120</a:t>
            </a:r>
            <a:endParaRPr lang="en-US" sz="1600" dirty="0"/>
          </a:p>
        </p:txBody>
      </p:sp>
      <p:sp>
        <p:nvSpPr>
          <p:cNvPr id="15" name="Poor band"/>
          <p:cNvSpPr/>
          <p:nvPr/>
        </p:nvSpPr>
        <p:spPr>
          <a:xfrm>
            <a:off x="7957109" y="4416552"/>
            <a:ext cx="3335731" cy="1053389"/>
          </a:xfrm>
          <a:prstGeom prst="roundRect">
            <a:avLst>
              <a:gd name="adj" fmla="val 12152"/>
            </a:avLst>
          </a:prstGeom>
          <a:solidFill>
            <a:srgbClr val="FEE2E2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B91C1C"/>
                </a:solidFill>
                <a:latin typeface="Times New Roman"/>
                <a:cs typeface="Times New Roman"/>
              </a:rPr>
              <a:t>Poor</a:t>
            </a:r>
            <a:endParaRPr lang="en-US" sz="2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B91C1C"/>
                </a:solidFill>
                <a:latin typeface="Times New Roman"/>
                <a:cs typeface="Times New Roman"/>
              </a:rPr>
              <a:t>Score &lt; 90</a:t>
            </a:r>
            <a:endParaRPr lang="en-US" sz="1600" dirty="0"/>
          </a:p>
        </p:txBody>
      </p:sp>
      <p:sp>
        <p:nvSpPr>
          <p:cNvPr id="16" name="Scoring note"/>
          <p:cNvSpPr txBox="1"/>
          <p:nvPr/>
        </p:nvSpPr>
        <p:spPr>
          <a:xfrm>
            <a:off x="758952" y="5645506"/>
            <a:ext cx="105338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Times New Roman"/>
                <a:cs typeface="Times New Roman"/>
              </a:rPr>
              <a:t>In the dashboard sample, a score of 274 is above the Excellent threshold of 120.</a:t>
            </a:r>
            <a:endParaRPr lang="en-US" sz="14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IMPLEMENTATION DETAILS</a:t>
            </a:r>
          </a:p>
        </p:txBody>
      </p:sp>
      <p:sp>
        <p:nvSpPr>
          <p:cNvPr id="3" name="Implementation row 1"/>
          <p:cNvSpPr/>
          <p:nvPr/>
        </p:nvSpPr>
        <p:spPr>
          <a:xfrm>
            <a:off x="758952" y="1826971"/>
            <a:ext cx="10533888" cy="737372"/>
          </a:xfrm>
          <a:prstGeom prst="roundRect">
            <a:avLst>
              <a:gd name="adj" fmla="val 1488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Implementation 1 circle"/>
          <p:cNvSpPr/>
          <p:nvPr/>
        </p:nvSpPr>
        <p:spPr>
          <a:xfrm>
            <a:off x="934517" y="1923532"/>
            <a:ext cx="544251" cy="544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Implementation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80" y="2059595"/>
            <a:ext cx="272125" cy="272125"/>
          </a:xfrm>
          <a:prstGeom prst="rect">
            <a:avLst/>
          </a:prstGeom>
        </p:spPr>
      </p:pic>
      <p:sp>
        <p:nvSpPr>
          <p:cNvPr id="6" name="Implementation 1 title"/>
          <p:cNvSpPr txBox="1"/>
          <p:nvPr/>
        </p:nvSpPr>
        <p:spPr>
          <a:xfrm>
            <a:off x="1680667" y="1826971"/>
            <a:ext cx="2633472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Component-based UI</a:t>
            </a:r>
            <a:endParaRPr lang="en-US" sz="1800" dirty="0"/>
          </a:p>
        </p:txBody>
      </p:sp>
      <p:sp>
        <p:nvSpPr>
          <p:cNvPr id="7" name="Implementation 1 text"/>
          <p:cNvSpPr txBox="1"/>
          <p:nvPr/>
        </p:nvSpPr>
        <p:spPr>
          <a:xfrm>
            <a:off x="4445813" y="1826971"/>
            <a:ext cx="6583680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Built with React and Vite; each page (Dashboard, Employees, KPI, Attendance, Report) is a component.</a:t>
            </a:r>
            <a:endParaRPr lang="en-US" sz="1500" dirty="0"/>
          </a:p>
        </p:txBody>
      </p:sp>
      <p:sp>
        <p:nvSpPr>
          <p:cNvPr id="8" name="Implementation row 2"/>
          <p:cNvSpPr/>
          <p:nvPr/>
        </p:nvSpPr>
        <p:spPr>
          <a:xfrm>
            <a:off x="758952" y="2669682"/>
            <a:ext cx="10533888" cy="737372"/>
          </a:xfrm>
          <a:prstGeom prst="roundRect">
            <a:avLst>
              <a:gd name="adj" fmla="val 1488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9" name="Implementation 2 circle"/>
          <p:cNvSpPr/>
          <p:nvPr/>
        </p:nvSpPr>
        <p:spPr>
          <a:xfrm>
            <a:off x="934517" y="2766243"/>
            <a:ext cx="544251" cy="54425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0" name="Implementation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80" y="2902306"/>
            <a:ext cx="272125" cy="272125"/>
          </a:xfrm>
          <a:prstGeom prst="rect">
            <a:avLst/>
          </a:prstGeom>
        </p:spPr>
      </p:pic>
      <p:sp>
        <p:nvSpPr>
          <p:cNvPr id="11" name="Implementation 2 title"/>
          <p:cNvSpPr txBox="1"/>
          <p:nvPr/>
        </p:nvSpPr>
        <p:spPr>
          <a:xfrm>
            <a:off x="1680667" y="2669682"/>
            <a:ext cx="2633472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Page navigation</a:t>
            </a:r>
            <a:endParaRPr lang="en-US" sz="1800" dirty="0"/>
          </a:p>
        </p:txBody>
      </p:sp>
      <p:sp>
        <p:nvSpPr>
          <p:cNvPr id="12" name="Implementation 2 text"/>
          <p:cNvSpPr txBox="1"/>
          <p:nvPr/>
        </p:nvSpPr>
        <p:spPr>
          <a:xfrm>
            <a:off x="4445813" y="2669682"/>
            <a:ext cx="6583680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React Router switches between pages from the sidebar.</a:t>
            </a:r>
            <a:endParaRPr lang="en-US" sz="1500" dirty="0"/>
          </a:p>
        </p:txBody>
      </p:sp>
      <p:sp>
        <p:nvSpPr>
          <p:cNvPr id="13" name="Implementation row 3"/>
          <p:cNvSpPr/>
          <p:nvPr/>
        </p:nvSpPr>
        <p:spPr>
          <a:xfrm>
            <a:off x="758952" y="3512393"/>
            <a:ext cx="10533888" cy="737372"/>
          </a:xfrm>
          <a:prstGeom prst="roundRect">
            <a:avLst>
              <a:gd name="adj" fmla="val 1488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4" name="Implementation 3 circle"/>
          <p:cNvSpPr/>
          <p:nvPr/>
        </p:nvSpPr>
        <p:spPr>
          <a:xfrm>
            <a:off x="934517" y="3608954"/>
            <a:ext cx="544251" cy="544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5" name="Implementation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80" y="3745017"/>
            <a:ext cx="272125" cy="272125"/>
          </a:xfrm>
          <a:prstGeom prst="rect">
            <a:avLst/>
          </a:prstGeom>
        </p:spPr>
      </p:pic>
      <p:sp>
        <p:nvSpPr>
          <p:cNvPr id="16" name="Implementation 3 title"/>
          <p:cNvSpPr txBox="1"/>
          <p:nvPr/>
        </p:nvSpPr>
        <p:spPr>
          <a:xfrm>
            <a:off x="1680667" y="3512393"/>
            <a:ext cx="2633472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Scoring logic</a:t>
            </a:r>
            <a:endParaRPr lang="en-US" sz="1800" dirty="0"/>
          </a:p>
        </p:txBody>
      </p:sp>
      <p:sp>
        <p:nvSpPr>
          <p:cNvPr id="17" name="Implementation 3 text"/>
          <p:cNvSpPr txBox="1"/>
          <p:nvPr/>
        </p:nvSpPr>
        <p:spPr>
          <a:xfrm>
            <a:off x="4445813" y="3512393"/>
            <a:ext cx="6583680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JavaScript calculates the score from Tasks, Bugs and Hours and applies the rating thresholds.</a:t>
            </a:r>
            <a:endParaRPr lang="en-US" sz="1500" dirty="0"/>
          </a:p>
        </p:txBody>
      </p:sp>
      <p:sp>
        <p:nvSpPr>
          <p:cNvPr id="18" name="Implementation row 4"/>
          <p:cNvSpPr/>
          <p:nvPr/>
        </p:nvSpPr>
        <p:spPr>
          <a:xfrm>
            <a:off x="758952" y="4355104"/>
            <a:ext cx="10533888" cy="737372"/>
          </a:xfrm>
          <a:prstGeom prst="roundRect">
            <a:avLst>
              <a:gd name="adj" fmla="val 1488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9" name="Implementation 4 circle"/>
          <p:cNvSpPr/>
          <p:nvPr/>
        </p:nvSpPr>
        <p:spPr>
          <a:xfrm>
            <a:off x="934517" y="4451665"/>
            <a:ext cx="544251" cy="54425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20" name="Implementation 4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580" y="4587728"/>
            <a:ext cx="272125" cy="272125"/>
          </a:xfrm>
          <a:prstGeom prst="rect">
            <a:avLst/>
          </a:prstGeom>
        </p:spPr>
      </p:pic>
      <p:sp>
        <p:nvSpPr>
          <p:cNvPr id="21" name="Implementation 4 title"/>
          <p:cNvSpPr txBox="1"/>
          <p:nvPr/>
        </p:nvSpPr>
        <p:spPr>
          <a:xfrm>
            <a:off x="1680667" y="4355104"/>
            <a:ext cx="2633472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Data storage</a:t>
            </a:r>
            <a:endParaRPr lang="en-US" sz="1800" dirty="0"/>
          </a:p>
        </p:txBody>
      </p:sp>
      <p:sp>
        <p:nvSpPr>
          <p:cNvPr id="22" name="Implementation 4 text"/>
          <p:cNvSpPr txBox="1"/>
          <p:nvPr/>
        </p:nvSpPr>
        <p:spPr>
          <a:xfrm>
            <a:off x="4445813" y="4355104"/>
            <a:ext cx="6583680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Employees, KPI entries and attendance are saved in the browser’s localStorage.</a:t>
            </a:r>
            <a:endParaRPr lang="en-US" sz="1500" dirty="0"/>
          </a:p>
        </p:txBody>
      </p:sp>
      <p:sp>
        <p:nvSpPr>
          <p:cNvPr id="23" name="Implementation row 5"/>
          <p:cNvSpPr/>
          <p:nvPr/>
        </p:nvSpPr>
        <p:spPr>
          <a:xfrm>
            <a:off x="758952" y="5197815"/>
            <a:ext cx="10533888" cy="737372"/>
          </a:xfrm>
          <a:prstGeom prst="roundRect">
            <a:avLst>
              <a:gd name="adj" fmla="val 1488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4" name="Implementation 5 circle"/>
          <p:cNvSpPr/>
          <p:nvPr/>
        </p:nvSpPr>
        <p:spPr>
          <a:xfrm>
            <a:off x="934517" y="5294376"/>
            <a:ext cx="544251" cy="544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5" name="Implementation 5 ic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580" y="5430439"/>
            <a:ext cx="272125" cy="272125"/>
          </a:xfrm>
          <a:prstGeom prst="rect">
            <a:avLst/>
          </a:prstGeom>
        </p:spPr>
      </p:pic>
      <p:sp>
        <p:nvSpPr>
          <p:cNvPr id="26" name="Implementation 5 title"/>
          <p:cNvSpPr txBox="1"/>
          <p:nvPr/>
        </p:nvSpPr>
        <p:spPr>
          <a:xfrm>
            <a:off x="1680667" y="5197815"/>
            <a:ext cx="2633472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Styling and theme</a:t>
            </a:r>
            <a:endParaRPr lang="en-US" sz="1800" dirty="0"/>
          </a:p>
        </p:txBody>
      </p:sp>
      <p:sp>
        <p:nvSpPr>
          <p:cNvPr id="27" name="Implementation 5 text"/>
          <p:cNvSpPr txBox="1"/>
          <p:nvPr/>
        </p:nvSpPr>
        <p:spPr>
          <a:xfrm>
            <a:off x="4445813" y="5197815"/>
            <a:ext cx="6583680" cy="737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HTML, CSS and Bootstrap provide the layout; the Dark toggle switches the theme.</a:t>
            </a:r>
            <a:endParaRPr lang="en-US" sz="1500" dirty="0"/>
          </a:p>
        </p:txBody>
      </p:sp>
      <p:sp>
        <p:nvSpPr>
          <p:cNvPr id="28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TECHNOLOGIES USED</a:t>
            </a:r>
          </a:p>
        </p:txBody>
      </p:sp>
      <p:sp>
        <p:nvSpPr>
          <p:cNvPr id="3" name="Tech tile 1"/>
          <p:cNvSpPr/>
          <p:nvPr/>
        </p:nvSpPr>
        <p:spPr>
          <a:xfrm>
            <a:off x="758952" y="182697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4" name="Tech 1 circle"/>
          <p:cNvSpPr/>
          <p:nvPr/>
        </p:nvSpPr>
        <p:spPr>
          <a:xfrm>
            <a:off x="978408" y="2134210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Tech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98802"/>
            <a:ext cx="329184" cy="329184"/>
          </a:xfrm>
          <a:prstGeom prst="rect">
            <a:avLst/>
          </a:prstGeom>
        </p:spPr>
      </p:pic>
      <p:sp>
        <p:nvSpPr>
          <p:cNvPr id="6" name="Tech 1 text"/>
          <p:cNvSpPr txBox="1"/>
          <p:nvPr/>
        </p:nvSpPr>
        <p:spPr>
          <a:xfrm>
            <a:off x="1812341" y="182697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React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Component-based user interface</a:t>
            </a:r>
            <a:endParaRPr lang="en-US" sz="1300" dirty="0"/>
          </a:p>
        </p:txBody>
      </p:sp>
      <p:sp>
        <p:nvSpPr>
          <p:cNvPr id="7" name="Tech tile 2"/>
          <p:cNvSpPr/>
          <p:nvPr/>
        </p:nvSpPr>
        <p:spPr>
          <a:xfrm>
            <a:off x="4358030" y="182697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Tech 2 circle"/>
          <p:cNvSpPr/>
          <p:nvPr/>
        </p:nvSpPr>
        <p:spPr>
          <a:xfrm>
            <a:off x="4577486" y="2134210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9" name="Tech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78" y="2298802"/>
            <a:ext cx="329184" cy="329184"/>
          </a:xfrm>
          <a:prstGeom prst="rect">
            <a:avLst/>
          </a:prstGeom>
        </p:spPr>
      </p:pic>
      <p:sp>
        <p:nvSpPr>
          <p:cNvPr id="10" name="Tech 2 text"/>
          <p:cNvSpPr txBox="1"/>
          <p:nvPr/>
        </p:nvSpPr>
        <p:spPr>
          <a:xfrm>
            <a:off x="5411419" y="182697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Vite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Fast development server and build tool</a:t>
            </a:r>
            <a:endParaRPr lang="en-US" sz="1300" dirty="0"/>
          </a:p>
        </p:txBody>
      </p:sp>
      <p:sp>
        <p:nvSpPr>
          <p:cNvPr id="11" name="Tech tile 3"/>
          <p:cNvSpPr/>
          <p:nvPr/>
        </p:nvSpPr>
        <p:spPr>
          <a:xfrm>
            <a:off x="7957109" y="182697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2" name="Tech 3 circle"/>
          <p:cNvSpPr/>
          <p:nvPr/>
        </p:nvSpPr>
        <p:spPr>
          <a:xfrm>
            <a:off x="8176565" y="2134210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3" name="Tech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2298802"/>
            <a:ext cx="329184" cy="329184"/>
          </a:xfrm>
          <a:prstGeom prst="rect">
            <a:avLst/>
          </a:prstGeom>
        </p:spPr>
      </p:pic>
      <p:sp>
        <p:nvSpPr>
          <p:cNvPr id="14" name="Tech 3 text"/>
          <p:cNvSpPr txBox="1"/>
          <p:nvPr/>
        </p:nvSpPr>
        <p:spPr>
          <a:xfrm>
            <a:off x="9010498" y="182697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JavaScript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Application and scoring logic</a:t>
            </a:r>
            <a:endParaRPr lang="en-US" sz="1300" dirty="0"/>
          </a:p>
        </p:txBody>
      </p:sp>
      <p:sp>
        <p:nvSpPr>
          <p:cNvPr id="15" name="Tech tile 4"/>
          <p:cNvSpPr/>
          <p:nvPr/>
        </p:nvSpPr>
        <p:spPr>
          <a:xfrm>
            <a:off x="758952" y="327538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6" name="Tech 4 circle"/>
          <p:cNvSpPr/>
          <p:nvPr/>
        </p:nvSpPr>
        <p:spPr>
          <a:xfrm>
            <a:off x="978408" y="3582619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7" name="Tech 4 icon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747211"/>
            <a:ext cx="329184" cy="329184"/>
          </a:xfrm>
          <a:prstGeom prst="rect">
            <a:avLst/>
          </a:prstGeom>
        </p:spPr>
      </p:pic>
      <p:sp>
        <p:nvSpPr>
          <p:cNvPr id="18" name="Tech 4 text"/>
          <p:cNvSpPr txBox="1"/>
          <p:nvPr/>
        </p:nvSpPr>
        <p:spPr>
          <a:xfrm>
            <a:off x="1812341" y="327538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HTML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Page structure and markup</a:t>
            </a:r>
            <a:endParaRPr lang="en-US" sz="1300" dirty="0"/>
          </a:p>
        </p:txBody>
      </p:sp>
      <p:sp>
        <p:nvSpPr>
          <p:cNvPr id="19" name="Tech tile 5"/>
          <p:cNvSpPr/>
          <p:nvPr/>
        </p:nvSpPr>
        <p:spPr>
          <a:xfrm>
            <a:off x="4358030" y="327538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0" name="Tech 5 circle"/>
          <p:cNvSpPr/>
          <p:nvPr/>
        </p:nvSpPr>
        <p:spPr>
          <a:xfrm>
            <a:off x="4577486" y="3582619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1" name="Tech 5 icon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078" y="3747211"/>
            <a:ext cx="329184" cy="329184"/>
          </a:xfrm>
          <a:prstGeom prst="rect">
            <a:avLst/>
          </a:prstGeom>
        </p:spPr>
      </p:pic>
      <p:sp>
        <p:nvSpPr>
          <p:cNvPr id="22" name="Tech 5 text"/>
          <p:cNvSpPr txBox="1"/>
          <p:nvPr/>
        </p:nvSpPr>
        <p:spPr>
          <a:xfrm>
            <a:off x="5411419" y="327538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CSS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Custom styling and light/dark theme</a:t>
            </a:r>
            <a:endParaRPr lang="en-US" sz="1300" dirty="0"/>
          </a:p>
        </p:txBody>
      </p:sp>
      <p:sp>
        <p:nvSpPr>
          <p:cNvPr id="23" name="Tech tile 6"/>
          <p:cNvSpPr/>
          <p:nvPr/>
        </p:nvSpPr>
        <p:spPr>
          <a:xfrm>
            <a:off x="7957109" y="3275381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4" name="Tech 6 circle"/>
          <p:cNvSpPr/>
          <p:nvPr/>
        </p:nvSpPr>
        <p:spPr>
          <a:xfrm>
            <a:off x="8176565" y="3582619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25" name="Tech 6 icon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1157" y="3747211"/>
            <a:ext cx="329184" cy="329184"/>
          </a:xfrm>
          <a:prstGeom prst="rect">
            <a:avLst/>
          </a:prstGeom>
        </p:spPr>
      </p:pic>
      <p:sp>
        <p:nvSpPr>
          <p:cNvPr id="26" name="Tech 6 text"/>
          <p:cNvSpPr txBox="1"/>
          <p:nvPr/>
        </p:nvSpPr>
        <p:spPr>
          <a:xfrm>
            <a:off x="9010498" y="3275381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Bootstrap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Responsive layout and components</a:t>
            </a:r>
            <a:endParaRPr lang="en-US" sz="1300" dirty="0"/>
          </a:p>
        </p:txBody>
      </p:sp>
      <p:sp>
        <p:nvSpPr>
          <p:cNvPr id="27" name="Tech tile 7"/>
          <p:cNvSpPr/>
          <p:nvPr/>
        </p:nvSpPr>
        <p:spPr>
          <a:xfrm>
            <a:off x="758952" y="4723790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28" name="Tech 7 circle"/>
          <p:cNvSpPr/>
          <p:nvPr/>
        </p:nvSpPr>
        <p:spPr>
          <a:xfrm>
            <a:off x="978408" y="5031029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29" name="Tech 7 icon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195621"/>
            <a:ext cx="329184" cy="329184"/>
          </a:xfrm>
          <a:prstGeom prst="rect">
            <a:avLst/>
          </a:prstGeom>
        </p:spPr>
      </p:pic>
      <p:sp>
        <p:nvSpPr>
          <p:cNvPr id="30" name="Tech 7 text"/>
          <p:cNvSpPr txBox="1"/>
          <p:nvPr/>
        </p:nvSpPr>
        <p:spPr>
          <a:xfrm>
            <a:off x="1812341" y="4723790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Chart.js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Charts for performance data</a:t>
            </a:r>
            <a:endParaRPr lang="en-US" sz="1300" dirty="0"/>
          </a:p>
        </p:txBody>
      </p:sp>
      <p:sp>
        <p:nvSpPr>
          <p:cNvPr id="31" name="Tech tile 8"/>
          <p:cNvSpPr/>
          <p:nvPr/>
        </p:nvSpPr>
        <p:spPr>
          <a:xfrm>
            <a:off x="4358030" y="4723790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32" name="Tech 8 circle"/>
          <p:cNvSpPr/>
          <p:nvPr/>
        </p:nvSpPr>
        <p:spPr>
          <a:xfrm>
            <a:off x="4577486" y="5031029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33" name="Tech 8 icon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2078" y="5195621"/>
            <a:ext cx="329184" cy="329184"/>
          </a:xfrm>
          <a:prstGeom prst="rect">
            <a:avLst/>
          </a:prstGeom>
        </p:spPr>
      </p:pic>
      <p:sp>
        <p:nvSpPr>
          <p:cNvPr id="34" name="Tech 8 text"/>
          <p:cNvSpPr txBox="1"/>
          <p:nvPr/>
        </p:nvSpPr>
        <p:spPr>
          <a:xfrm>
            <a:off x="5411419" y="4723790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React Router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Navigation between pages</a:t>
            </a:r>
            <a:endParaRPr lang="en-US" sz="1300" dirty="0"/>
          </a:p>
        </p:txBody>
      </p:sp>
      <p:sp>
        <p:nvSpPr>
          <p:cNvPr id="35" name="Tech tile 9"/>
          <p:cNvSpPr/>
          <p:nvPr/>
        </p:nvSpPr>
        <p:spPr>
          <a:xfrm>
            <a:off x="7957109" y="4723790"/>
            <a:ext cx="3335731" cy="1272845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36" name="Tech 9 circle"/>
          <p:cNvSpPr/>
          <p:nvPr/>
        </p:nvSpPr>
        <p:spPr>
          <a:xfrm>
            <a:off x="8176565" y="5031029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37" name="Tech 9 icon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1157" y="5195621"/>
            <a:ext cx="329184" cy="329184"/>
          </a:xfrm>
          <a:prstGeom prst="rect">
            <a:avLst/>
          </a:prstGeom>
        </p:spPr>
      </p:pic>
      <p:sp>
        <p:nvSpPr>
          <p:cNvPr id="38" name="Tech 9 text"/>
          <p:cNvSpPr txBox="1"/>
          <p:nvPr/>
        </p:nvSpPr>
        <p:spPr>
          <a:xfrm>
            <a:off x="9010498" y="4723790"/>
            <a:ext cx="2194560" cy="1272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localStorage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1F1F"/>
                </a:solidFill>
                <a:latin typeface="Times New Roman"/>
                <a:cs typeface="Times New Roman"/>
              </a:rPr>
              <a:t>Browser-side data storage</a:t>
            </a:r>
            <a:endParaRPr lang="en-US" sz="1300" dirty="0"/>
          </a:p>
        </p:txBody>
      </p:sp>
      <p:sp>
        <p:nvSpPr>
          <p:cNvPr id="39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SOURCE CODE: KPI SCORING LOGIC</a:t>
            </a:r>
          </a:p>
        </p:txBody>
      </p:sp>
      <p:sp>
        <p:nvSpPr>
          <p:cNvPr id="3" name="Code panel"/>
          <p:cNvSpPr/>
          <p:nvPr/>
        </p:nvSpPr>
        <p:spPr>
          <a:xfrm>
            <a:off x="758952" y="1826971"/>
            <a:ext cx="6934810" cy="3774643"/>
          </a:xfrm>
          <a:prstGeom prst="roundRect">
            <a:avLst>
              <a:gd name="adj" fmla="val 2906"/>
            </a:avLst>
          </a:prstGeom>
          <a:solidFill>
            <a:srgbClr val="1E1E2E"/>
          </a:solidFill>
          <a:ln>
            <a:noFill/>
          </a:ln>
        </p:spPr>
        <p:txBody>
          <a:bodyPr wrap="square" lIns="320040" tIns="182880" rIns="274320" bIns="18288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8FBF8F"/>
                </a:solidFill>
                <a:latin typeface="Consolas"/>
                <a:cs typeface="Consolas"/>
              </a:rPr>
              <a:t>// (Tasks × 5) + (Bugs × 3) + (Hours × 0.5)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export function 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calculateScore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(tasks, bugs, hours) {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  return 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tasks * 5 + bugs * 3 + hours * 0.5;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}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 xml:space="preserve"> 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8FBF8F"/>
                </a:solidFill>
                <a:latin typeface="Consolas"/>
                <a:cs typeface="Consolas"/>
              </a:rPr>
              <a:t>// Excellent ≥ 120, Good ≥ 90 and &lt; 120, Poor &lt; 90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export function 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getStatus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(score) {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  if 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 xml:space="preserve">(score &gt;= 120) </a:t>
            </a: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return </a:t>
            </a:r>
            <a:r>
              <a:rPr lang="en-US" sz="1500" b="0" i="0" dirty="0">
                <a:solidFill>
                  <a:srgbClr val="F5D78E"/>
                </a:solidFill>
                <a:latin typeface="Consolas"/>
                <a:cs typeface="Consolas"/>
              </a:rPr>
              <a:t>"Excellent"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;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  if 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 xml:space="preserve">(score &gt;= 90) </a:t>
            </a: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return </a:t>
            </a:r>
            <a:r>
              <a:rPr lang="en-US" sz="1500" b="0" i="0" dirty="0">
                <a:solidFill>
                  <a:srgbClr val="F5D78E"/>
                </a:solidFill>
                <a:latin typeface="Consolas"/>
                <a:cs typeface="Consolas"/>
              </a:rPr>
              <a:t>"Good"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;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C792EA"/>
                </a:solidFill>
                <a:latin typeface="Consolas"/>
                <a:cs typeface="Consolas"/>
              </a:rPr>
              <a:t xml:space="preserve">  return </a:t>
            </a:r>
            <a:r>
              <a:rPr lang="en-US" sz="1500" b="0" i="0" dirty="0">
                <a:solidFill>
                  <a:srgbClr val="F5D78E"/>
                </a:solidFill>
                <a:latin typeface="Consolas"/>
                <a:cs typeface="Consolas"/>
              </a:rPr>
              <a:t>"Poor"</a:t>
            </a: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;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0" i="0" dirty="0">
                <a:solidFill>
                  <a:srgbClr val="E8E8F4"/>
                </a:solidFill>
                <a:latin typeface="Consolas"/>
                <a:cs typeface="Consolas"/>
              </a:rPr>
              <a:t>}</a:t>
            </a:r>
            <a:endParaRPr lang="en-US" sz="1500" dirty="0"/>
          </a:p>
        </p:txBody>
      </p:sp>
      <p:sp>
        <p:nvSpPr>
          <p:cNvPr id="4" name="Code caption"/>
          <p:cNvSpPr txBox="1"/>
          <p:nvPr/>
        </p:nvSpPr>
        <p:spPr>
          <a:xfrm>
            <a:off x="758952" y="5733288"/>
            <a:ext cx="6934810" cy="351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95959"/>
                </a:solidFill>
                <a:latin typeface="Times New Roman"/>
                <a:cs typeface="Times New Roman"/>
              </a:rPr>
              <a:t>JavaScript, written from the project’s KPI formula and rating thresholds.</a:t>
            </a:r>
            <a:endParaRPr lang="en-US" sz="1300" dirty="0"/>
          </a:p>
        </p:txBody>
      </p:sp>
      <p:sp>
        <p:nvSpPr>
          <p:cNvPr id="5" name="Code note 1"/>
          <p:cNvSpPr/>
          <p:nvPr/>
        </p:nvSpPr>
        <p:spPr>
          <a:xfrm>
            <a:off x="7942186" y="1826971"/>
            <a:ext cx="3350654" cy="1799539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6" name="Code note 1 text"/>
          <p:cNvSpPr txBox="1"/>
          <p:nvPr/>
        </p:nvSpPr>
        <p:spPr>
          <a:xfrm>
            <a:off x="8161642" y="2002536"/>
            <a:ext cx="2940710" cy="1492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onsolas"/>
                <a:cs typeface="Consolas"/>
              </a:rPr>
              <a:t>calculateScore</a:t>
            </a:r>
            <a:endParaRPr lang="en-US" sz="1800" dirty="0"/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Applies the KPI formula to Tasks, Bugs and Hours and returns the score.</a:t>
            </a:r>
            <a:endParaRPr lang="en-US" sz="1500" dirty="0"/>
          </a:p>
        </p:txBody>
      </p:sp>
      <p:sp>
        <p:nvSpPr>
          <p:cNvPr id="7" name="Code note 2"/>
          <p:cNvSpPr/>
          <p:nvPr/>
        </p:nvSpPr>
        <p:spPr>
          <a:xfrm>
            <a:off x="7942186" y="3802075"/>
            <a:ext cx="3350654" cy="1799539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8" name="Code note 2 text"/>
          <p:cNvSpPr txBox="1"/>
          <p:nvPr/>
        </p:nvSpPr>
        <p:spPr>
          <a:xfrm>
            <a:off x="8161642" y="3977640"/>
            <a:ext cx="2940710" cy="1492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7030A0"/>
                </a:solidFill>
                <a:latin typeface="Consolas"/>
                <a:cs typeface="Consolas"/>
              </a:rPr>
              <a:t>getStatus</a:t>
            </a:r>
            <a:endParaRPr lang="en-US" sz="1800" dirty="0"/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1F1F"/>
                </a:solidFill>
                <a:latin typeface="Times New Roman"/>
                <a:cs typeface="Times New Roman"/>
              </a:rPr>
              <a:t>Maps the score to a rating: Excellent (≥ 120), Good (≥ 90 and &lt; 120) or Poor (&lt; 90).</a:t>
            </a:r>
            <a:endParaRPr lang="en-US" sz="15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HARDWARE AND SOFTWARE REQUIREMENTS</a:t>
            </a:r>
          </a:p>
        </p:txBody>
      </p:sp>
      <p:sp>
        <p:nvSpPr>
          <p:cNvPr id="3" name="Hardware card"/>
          <p:cNvSpPr/>
          <p:nvPr/>
        </p:nvSpPr>
        <p:spPr>
          <a:xfrm>
            <a:off x="758952" y="1826971"/>
            <a:ext cx="5135270" cy="2809037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</p:sp>
      <p:sp>
        <p:nvSpPr>
          <p:cNvPr id="4" name="Hardware circle"/>
          <p:cNvSpPr/>
          <p:nvPr/>
        </p:nvSpPr>
        <p:spPr>
          <a:xfrm>
            <a:off x="1022299" y="2090318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Hardware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91" y="2254910"/>
            <a:ext cx="329184" cy="329184"/>
          </a:xfrm>
          <a:prstGeom prst="rect">
            <a:avLst/>
          </a:prstGeom>
        </p:spPr>
      </p:pic>
      <p:sp>
        <p:nvSpPr>
          <p:cNvPr id="6" name="Hardware title"/>
          <p:cNvSpPr txBox="1"/>
          <p:nvPr/>
        </p:nvSpPr>
        <p:spPr>
          <a:xfrm>
            <a:off x="1900123" y="2090318"/>
            <a:ext cx="3686861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Hardware</a:t>
            </a:r>
            <a:endParaRPr lang="en-US" sz="2200" dirty="0"/>
          </a:p>
        </p:txBody>
      </p:sp>
      <p:sp>
        <p:nvSpPr>
          <p:cNvPr id="7" name="Hardware list"/>
          <p:cNvSpPr txBox="1"/>
          <p:nvPr/>
        </p:nvSpPr>
        <p:spPr>
          <a:xfrm>
            <a:off x="1066190" y="3012034"/>
            <a:ext cx="4564685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Standard PC or laptop</a:t>
            </a:r>
            <a:endParaRPr lang="en-US" sz="1800" dirty="0"/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No GPU required</a:t>
            </a:r>
            <a:endParaRPr lang="en-US" sz="1800" dirty="0"/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No server required; the app runs in the browser</a:t>
            </a:r>
            <a:endParaRPr lang="en-US" sz="1800" dirty="0"/>
          </a:p>
        </p:txBody>
      </p:sp>
      <p:sp>
        <p:nvSpPr>
          <p:cNvPr id="8" name="Software card"/>
          <p:cNvSpPr/>
          <p:nvPr/>
        </p:nvSpPr>
        <p:spPr>
          <a:xfrm>
            <a:off x="6157570" y="1826971"/>
            <a:ext cx="5135270" cy="2809037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>
            <a:outerShdw blurRad="152400" dist="38100" dir="5400000" algn="t" rotWithShape="0">
              <a:srgbClr val="0F1A44">
                <a:alpha val="13000"/>
              </a:srgbClr>
            </a:outerShdw>
          </a:effectLst>
        </p:spPr>
      </p:sp>
      <p:sp>
        <p:nvSpPr>
          <p:cNvPr id="9" name="Software circle"/>
          <p:cNvSpPr/>
          <p:nvPr/>
        </p:nvSpPr>
        <p:spPr>
          <a:xfrm>
            <a:off x="6420917" y="2090318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0" name="Software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09" y="2254910"/>
            <a:ext cx="329184" cy="329184"/>
          </a:xfrm>
          <a:prstGeom prst="rect">
            <a:avLst/>
          </a:prstGeom>
        </p:spPr>
      </p:pic>
      <p:sp>
        <p:nvSpPr>
          <p:cNvPr id="11" name="Software title"/>
          <p:cNvSpPr txBox="1"/>
          <p:nvPr/>
        </p:nvSpPr>
        <p:spPr>
          <a:xfrm>
            <a:off x="7298741" y="2090318"/>
            <a:ext cx="3686861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2060"/>
                </a:solidFill>
                <a:latin typeface="Times New Roman"/>
                <a:cs typeface="Times New Roman"/>
              </a:rPr>
              <a:t>Software</a:t>
            </a:r>
            <a:endParaRPr lang="en-US" sz="2200" dirty="0"/>
          </a:p>
        </p:txBody>
      </p:sp>
      <p:sp>
        <p:nvSpPr>
          <p:cNvPr id="12" name="Software list"/>
          <p:cNvSpPr txBox="1"/>
          <p:nvPr/>
        </p:nvSpPr>
        <p:spPr>
          <a:xfrm>
            <a:off x="6464808" y="3012034"/>
            <a:ext cx="4564685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Node.js and npm for the React and Vite build</a:t>
            </a:r>
            <a:endParaRPr lang="en-US" sz="1800" dirty="0"/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VS Code or another code editor</a:t>
            </a:r>
            <a:endParaRPr lang="en-US" sz="1800" dirty="0"/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7030A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Modern browser: Chrome, Edge or Firefox</a:t>
            </a:r>
            <a:endParaRPr lang="en-US" sz="1800" dirty="0"/>
          </a:p>
        </p:txBody>
      </p:sp>
      <p:sp>
        <p:nvSpPr>
          <p:cNvPr id="13" name="Libraries strip"/>
          <p:cNvSpPr/>
          <p:nvPr/>
        </p:nvSpPr>
        <p:spPr>
          <a:xfrm>
            <a:off x="758952" y="4899355"/>
            <a:ext cx="5135270" cy="1053389"/>
          </a:xfrm>
          <a:prstGeom prst="roundRect">
            <a:avLst>
              <a:gd name="adj" fmla="val 12152"/>
            </a:avLst>
          </a:prstGeom>
          <a:solidFill>
            <a:srgbClr val="002060"/>
          </a:solidFill>
          <a:ln>
            <a:noFill/>
          </a:ln>
        </p:spPr>
        <p:txBody>
          <a:bodyPr wrap="square" lIns="320040" tIns="45720" rIns="27432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4B5FD"/>
                </a:solidFill>
                <a:latin typeface="Times New Roman"/>
                <a:cs typeface="Times New Roman"/>
              </a:rPr>
              <a:t>PROJECT LIBRARIES</a:t>
            </a:r>
            <a:endParaRPr lang="en-US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React, Vite, React Router, Bootstrap, Chart.js</a:t>
            </a:r>
            <a:endParaRPr lang="en-US" sz="1600" dirty="0"/>
          </a:p>
        </p:txBody>
      </p:sp>
      <p:sp>
        <p:nvSpPr>
          <p:cNvPr id="14" name="Data strip"/>
          <p:cNvSpPr/>
          <p:nvPr/>
        </p:nvSpPr>
        <p:spPr>
          <a:xfrm>
            <a:off x="6157570" y="4899355"/>
            <a:ext cx="5135270" cy="1053389"/>
          </a:xfrm>
          <a:prstGeom prst="roundRect">
            <a:avLst>
              <a:gd name="adj" fmla="val 12152"/>
            </a:avLst>
          </a:prstGeom>
          <a:solidFill>
            <a:srgbClr val="002060"/>
          </a:solidFill>
          <a:ln>
            <a:noFill/>
          </a:ln>
        </p:spPr>
        <p:txBody>
          <a:bodyPr wrap="square" lIns="320040" tIns="45720" rIns="274320" bIns="4572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4B5FD"/>
                </a:solidFill>
                <a:latin typeface="Times New Roman"/>
                <a:cs typeface="Times New Roman"/>
              </a:rPr>
              <a:t>DATA STORAGE</a:t>
            </a:r>
            <a:endParaRPr lang="en-US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Browser localStorage; no database setup needed</a:t>
            </a:r>
            <a:endParaRPr lang="en-US" sz="1600" dirty="0"/>
          </a:p>
        </p:txBody>
      </p: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8B0000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clusion card"/>
          <p:cNvSpPr/>
          <p:nvPr/>
        </p:nvSpPr>
        <p:spPr>
          <a:xfrm>
            <a:off x="758952" y="1826971"/>
            <a:ext cx="6144768" cy="4169664"/>
          </a:xfrm>
          <a:prstGeom prst="roundRect">
            <a:avLst>
              <a:gd name="adj" fmla="val 3289"/>
            </a:avLst>
          </a:prstGeom>
          <a:solidFill>
            <a:srgbClr val="002060"/>
          </a:solidFill>
          <a:ln>
            <a:noFill/>
          </a:ln>
        </p:spPr>
        <p:txBody>
          <a:bodyPr wrap="square" lIns="457200" tIns="274320" rIns="457200" bIns="274320" anchor="ctr" rtlCol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KPI Hub replaces manual KPI tracking with one dashboard that scores, rates and ranks employees automatically.</a:t>
            </a:r>
            <a:endParaRPr lang="en-US" sz="2400" dirty="0"/>
          </a:p>
          <a:p>
            <a:pPr marL="0" indent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C9D1FF"/>
                </a:solidFill>
                <a:latin typeface="Times New Roman"/>
                <a:cs typeface="Times New Roman"/>
              </a:rPr>
              <a:t>Every score follows a single formula: (Tasks × 5) + (Bugs × 3) + (Hours × 0.5).</a:t>
            </a:r>
            <a:endParaRPr lang="en-US" sz="1600" dirty="0"/>
          </a:p>
        </p:txBody>
      </p:sp>
      <p:sp>
        <p:nvSpPr>
          <p:cNvPr id="4" name="Takeaway card 1"/>
          <p:cNvSpPr/>
          <p:nvPr/>
        </p:nvSpPr>
        <p:spPr>
          <a:xfrm>
            <a:off x="7152144" y="1826971"/>
            <a:ext cx="4140696" cy="1290401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5" name="Takeaway 1 circle"/>
          <p:cNvSpPr/>
          <p:nvPr/>
        </p:nvSpPr>
        <p:spPr>
          <a:xfrm>
            <a:off x="7371600" y="2142988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6" name="Takeaway 1 ico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92" y="2307580"/>
            <a:ext cx="329184" cy="329184"/>
          </a:xfrm>
          <a:prstGeom prst="rect">
            <a:avLst/>
          </a:prstGeom>
        </p:spPr>
      </p:pic>
      <p:sp>
        <p:nvSpPr>
          <p:cNvPr id="7" name="Takeaway 1 text"/>
          <p:cNvSpPr txBox="1"/>
          <p:nvPr/>
        </p:nvSpPr>
        <p:spPr>
          <a:xfrm>
            <a:off x="8249424" y="1826971"/>
            <a:ext cx="2896819" cy="12904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Automatic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Score and rating are calculated from Tasks, Bugs and Hours.</a:t>
            </a:r>
            <a:endParaRPr lang="en-US" sz="1400" dirty="0"/>
          </a:p>
        </p:txBody>
      </p:sp>
      <p:sp>
        <p:nvSpPr>
          <p:cNvPr id="8" name="Takeaway card 2"/>
          <p:cNvSpPr/>
          <p:nvPr/>
        </p:nvSpPr>
        <p:spPr>
          <a:xfrm>
            <a:off x="7152144" y="3266603"/>
            <a:ext cx="4140696" cy="1290401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9" name="Takeaway 2 circle"/>
          <p:cNvSpPr/>
          <p:nvPr/>
        </p:nvSpPr>
        <p:spPr>
          <a:xfrm>
            <a:off x="7371600" y="3582619"/>
            <a:ext cx="658368" cy="6583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</p:sp>
      <p:pic>
        <p:nvPicPr>
          <p:cNvPr id="10" name="Takeaway 2 ic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92" y="3747211"/>
            <a:ext cx="329184" cy="329184"/>
          </a:xfrm>
          <a:prstGeom prst="rect">
            <a:avLst/>
          </a:prstGeom>
        </p:spPr>
      </p:pic>
      <p:sp>
        <p:nvSpPr>
          <p:cNvPr id="11" name="Takeaway 2 text"/>
          <p:cNvSpPr txBox="1"/>
          <p:nvPr/>
        </p:nvSpPr>
        <p:spPr>
          <a:xfrm>
            <a:off x="8249424" y="3266603"/>
            <a:ext cx="2896819" cy="12904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Centralised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Employees, KPI data and attendance live in one app.</a:t>
            </a:r>
            <a:endParaRPr lang="en-US" sz="1400" dirty="0"/>
          </a:p>
        </p:txBody>
      </p:sp>
      <p:sp>
        <p:nvSpPr>
          <p:cNvPr id="12" name="Takeaway card 3"/>
          <p:cNvSpPr/>
          <p:nvPr/>
        </p:nvSpPr>
        <p:spPr>
          <a:xfrm>
            <a:off x="7152144" y="4706234"/>
            <a:ext cx="4140696" cy="1290401"/>
          </a:xfrm>
          <a:prstGeom prst="roundRect">
            <a:avLst>
              <a:gd name="adj" fmla="val 8503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</p:spPr>
      </p:sp>
      <p:sp>
        <p:nvSpPr>
          <p:cNvPr id="13" name="Takeaway 3 circle"/>
          <p:cNvSpPr/>
          <p:nvPr/>
        </p:nvSpPr>
        <p:spPr>
          <a:xfrm>
            <a:off x="7371600" y="5022251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14" name="Takeaway 3 ic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92" y="5186843"/>
            <a:ext cx="329184" cy="329184"/>
          </a:xfrm>
          <a:prstGeom prst="rect">
            <a:avLst/>
          </a:prstGeom>
        </p:spPr>
      </p:pic>
      <p:sp>
        <p:nvSpPr>
          <p:cNvPr id="15" name="Takeaway 3 text"/>
          <p:cNvSpPr txBox="1"/>
          <p:nvPr/>
        </p:nvSpPr>
        <p:spPr>
          <a:xfrm>
            <a:off x="8249424" y="4706234"/>
            <a:ext cx="2896819" cy="12904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Times New Roman"/>
                <a:cs typeface="Times New Roman"/>
              </a:rPr>
              <a:t>Lightweight</a:t>
            </a:r>
            <a:endParaRPr lang="en-US" sz="18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Runs in the browser with localStorage; no server needed.</a:t>
            </a:r>
            <a:endParaRPr lang="en-US" sz="14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2143B-610F-499C-A392-DFFBE135A7B2}" type="slidenum">
              <a:rPr lang="en-US" dirty="0"/>
              <a:t>16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</TotalTime>
  <Application>Microsoft Office PowerPoint</Application>
  <PresentationFormat>Widescreen</PresentationFormat>
  <Slides>16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Rupmala R</cp:lastModifiedBy>
  <cp:revision>43</cp:revision>
  <dcterms:created xsi:type="dcterms:W3CDTF">2023-08-03T04:32:32Z</dcterms:created>
  <dcterms:modified xsi:type="dcterms:W3CDTF">2026-08-05T10:10:19Z</dcterms:modified>
</cp:coreProperties>
</file>